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97" r:id="rId4"/>
    <p:sldId id="300" r:id="rId5"/>
    <p:sldId id="265" r:id="rId6"/>
    <p:sldId id="301" r:id="rId7"/>
    <p:sldId id="266" r:id="rId8"/>
    <p:sldId id="273" r:id="rId9"/>
    <p:sldId id="274" r:id="rId10"/>
    <p:sldId id="275" r:id="rId11"/>
    <p:sldId id="267" r:id="rId12"/>
    <p:sldId id="285" r:id="rId13"/>
    <p:sldId id="289" r:id="rId14"/>
    <p:sldId id="290" r:id="rId15"/>
    <p:sldId id="291" r:id="rId16"/>
    <p:sldId id="292" r:id="rId17"/>
    <p:sldId id="293" r:id="rId18"/>
    <p:sldId id="294" r:id="rId19"/>
    <p:sldId id="295" r:id="rId20"/>
    <p:sldId id="259" r:id="rId21"/>
    <p:sldId id="260" r:id="rId22"/>
    <p:sldId id="269" r:id="rId23"/>
    <p:sldId id="280" r:id="rId24"/>
    <p:sldId id="303" r:id="rId25"/>
    <p:sldId id="302" r:id="rId26"/>
    <p:sldId id="281" r:id="rId27"/>
    <p:sldId id="30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CFDF"/>
    <a:srgbClr val="1E71B8"/>
    <a:srgbClr val="F68D10"/>
    <a:srgbClr val="709F51"/>
    <a:srgbClr val="78ADDB"/>
    <a:srgbClr val="709FD1"/>
    <a:srgbClr val="478F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84"/>
    <p:restoredTop sz="94718"/>
  </p:normalViewPr>
  <p:slideViewPr>
    <p:cSldViewPr snapToGrid="0">
      <p:cViewPr>
        <p:scale>
          <a:sx n="75" d="100"/>
          <a:sy n="75" d="100"/>
        </p:scale>
        <p:origin x="280" y="10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B7EC7A-0A60-A547-B762-5A5161576ABB}" type="datetimeFigureOut">
              <a:rPr lang="en-US" smtClean="0"/>
              <a:t>10/30/25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E7871B-2C3E-E144-A3B1-0CB15C3D344F}" type="slidenum">
              <a:rPr lang="en-US" smtClean="0"/>
              <a:t>‹#›</a:t>
            </a:fld>
            <a:endParaRPr lang="en-US"/>
          </a:p>
        </p:txBody>
      </p:sp>
    </p:spTree>
    <p:extLst>
      <p:ext uri="{BB962C8B-B14F-4D97-AF65-F5344CB8AC3E}">
        <p14:creationId xmlns:p14="http://schemas.microsoft.com/office/powerpoint/2010/main" val="3194809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E7871B-2C3E-E144-A3B1-0CB15C3D344F}" type="slidenum">
              <a:rPr lang="en-US" smtClean="0"/>
              <a:t>1</a:t>
            </a:fld>
            <a:endParaRPr lang="en-US"/>
          </a:p>
        </p:txBody>
      </p:sp>
    </p:spTree>
    <p:extLst>
      <p:ext uri="{BB962C8B-B14F-4D97-AF65-F5344CB8AC3E}">
        <p14:creationId xmlns:p14="http://schemas.microsoft.com/office/powerpoint/2010/main" val="294757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E7871B-2C3E-E144-A3B1-0CB15C3D344F}" type="slidenum">
              <a:rPr lang="en-US" smtClean="0"/>
              <a:t>5</a:t>
            </a:fld>
            <a:endParaRPr lang="en-US"/>
          </a:p>
        </p:txBody>
      </p:sp>
    </p:spTree>
    <p:extLst>
      <p:ext uri="{BB962C8B-B14F-4D97-AF65-F5344CB8AC3E}">
        <p14:creationId xmlns:p14="http://schemas.microsoft.com/office/powerpoint/2010/main" val="3267390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E7871B-2C3E-E144-A3B1-0CB15C3D344F}" type="slidenum">
              <a:rPr lang="en-US" smtClean="0"/>
              <a:t>7</a:t>
            </a:fld>
            <a:endParaRPr lang="en-US"/>
          </a:p>
        </p:txBody>
      </p:sp>
    </p:spTree>
    <p:extLst>
      <p:ext uri="{BB962C8B-B14F-4D97-AF65-F5344CB8AC3E}">
        <p14:creationId xmlns:p14="http://schemas.microsoft.com/office/powerpoint/2010/main" val="1089507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E7871B-2C3E-E144-A3B1-0CB15C3D344F}" type="slidenum">
              <a:rPr lang="en-US" smtClean="0"/>
              <a:t>9</a:t>
            </a:fld>
            <a:endParaRPr lang="en-US"/>
          </a:p>
        </p:txBody>
      </p:sp>
    </p:spTree>
    <p:extLst>
      <p:ext uri="{BB962C8B-B14F-4D97-AF65-F5344CB8AC3E}">
        <p14:creationId xmlns:p14="http://schemas.microsoft.com/office/powerpoint/2010/main" val="296317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E7871B-2C3E-E144-A3B1-0CB15C3D344F}" type="slidenum">
              <a:rPr lang="en-US" smtClean="0"/>
              <a:t>20</a:t>
            </a:fld>
            <a:endParaRPr lang="en-US"/>
          </a:p>
        </p:txBody>
      </p:sp>
    </p:spTree>
    <p:extLst>
      <p:ext uri="{BB962C8B-B14F-4D97-AF65-F5344CB8AC3E}">
        <p14:creationId xmlns:p14="http://schemas.microsoft.com/office/powerpoint/2010/main" val="3430152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CC321-C27B-D1D6-2818-BD1107F25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B3FCC-C894-8DB2-E7E5-DAFB5BD25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FA429B-CBDD-70F6-0E72-AB19BEE353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80763C-982F-CB0C-74DA-CBE3C7C541CC}"/>
              </a:ext>
            </a:extLst>
          </p:cNvPr>
          <p:cNvSpPr>
            <a:spLocks noGrp="1"/>
          </p:cNvSpPr>
          <p:nvPr>
            <p:ph type="sldNum" sz="quarter" idx="5"/>
          </p:nvPr>
        </p:nvSpPr>
        <p:spPr/>
        <p:txBody>
          <a:bodyPr/>
          <a:lstStyle/>
          <a:p>
            <a:fld id="{7FE7871B-2C3E-E144-A3B1-0CB15C3D344F}" type="slidenum">
              <a:rPr lang="en-US" smtClean="0"/>
              <a:t>27</a:t>
            </a:fld>
            <a:endParaRPr lang="en-US"/>
          </a:p>
        </p:txBody>
      </p:sp>
    </p:spTree>
    <p:extLst>
      <p:ext uri="{BB962C8B-B14F-4D97-AF65-F5344CB8AC3E}">
        <p14:creationId xmlns:p14="http://schemas.microsoft.com/office/powerpoint/2010/main" val="1809170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B5850-04A0-D739-3E57-1376FCD12CE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C1E4C46-79B8-B433-468A-CD8E6B9B15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411C52E-4474-0410-15BB-1483631BB579}"/>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5" name="Footer Placeholder 4">
            <a:extLst>
              <a:ext uri="{FF2B5EF4-FFF2-40B4-BE49-F238E27FC236}">
                <a16:creationId xmlns:a16="http://schemas.microsoft.com/office/drawing/2014/main" id="{106AB10D-85DB-100B-24BD-76B2327AD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2B4B62-CE7A-B729-DB7B-6F9321ABB58F}"/>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242324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7738D-4FBA-03D6-7606-2757DDAC2C7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99DBEB3-1120-D981-A391-D651A3E6D43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974294A-245B-25B2-91FE-154E244522B4}"/>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5" name="Footer Placeholder 4">
            <a:extLst>
              <a:ext uri="{FF2B5EF4-FFF2-40B4-BE49-F238E27FC236}">
                <a16:creationId xmlns:a16="http://schemas.microsoft.com/office/drawing/2014/main" id="{FF5BD3D6-4B08-01A6-8464-4B7246C3C5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65253D-90A9-A314-DB2B-3B52E7081D26}"/>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3237147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D31F5-8D7A-C776-1FEB-07089CAFBF4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1B09F6E-8B97-EADD-BAC8-4DD8CB59D0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51AA2E8-6D74-FD2F-A0E1-4B7BC46456F2}"/>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5" name="Footer Placeholder 4">
            <a:extLst>
              <a:ext uri="{FF2B5EF4-FFF2-40B4-BE49-F238E27FC236}">
                <a16:creationId xmlns:a16="http://schemas.microsoft.com/office/drawing/2014/main" id="{0562AD7C-496B-C0EC-4F5F-C4FAE24ECE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904F62-433F-08B1-D340-0D26408C5A75}"/>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2906793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7BE22-5351-525D-4E99-4684B41AB59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00DF922-2AE9-1BB7-F280-6E500179534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1F24078-BD5A-B95F-539A-28A7A51A011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C098AFE-8E76-4E08-8F87-0E0620FF7DE5}"/>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6" name="Footer Placeholder 5">
            <a:extLst>
              <a:ext uri="{FF2B5EF4-FFF2-40B4-BE49-F238E27FC236}">
                <a16:creationId xmlns:a16="http://schemas.microsoft.com/office/drawing/2014/main" id="{0205812C-E8C8-102C-8E9B-75869A1213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206DD7-0622-21AC-81FF-CF6D1416CCD6}"/>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2928616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AB80-E028-52D1-5247-825F5A54832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7D88D08-ADBC-A853-FAE3-AFDB72CDCF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477FE62-8902-6DDB-298D-EAC6BB34D65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A3260E0-877A-F05C-DBC0-2CAD70AE80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C468850-C97F-98BB-20FD-E7CFE4A791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ACFD2B1-CC6E-5C18-88E8-790BF7FDF062}"/>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8" name="Footer Placeholder 7">
            <a:extLst>
              <a:ext uri="{FF2B5EF4-FFF2-40B4-BE49-F238E27FC236}">
                <a16:creationId xmlns:a16="http://schemas.microsoft.com/office/drawing/2014/main" id="{17AA13DD-04E4-3956-5A26-DAF1D29D83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7FC9F0-8F8E-C6D9-33E8-20E9150BA77B}"/>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2826726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71CD9-2756-7EE4-C529-CBF0E96A5DF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B128209-C410-0DF2-7C23-C4B296D20C35}"/>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4" name="Footer Placeholder 3">
            <a:extLst>
              <a:ext uri="{FF2B5EF4-FFF2-40B4-BE49-F238E27FC236}">
                <a16:creationId xmlns:a16="http://schemas.microsoft.com/office/drawing/2014/main" id="{E40D65FC-A980-09F4-A7E9-C0DC3B3402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638AFF-55C6-388A-1A4B-75C056C65C38}"/>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2765105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4DAC67-0BDF-8C7C-B17E-4BA715156B7E}"/>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3" name="Footer Placeholder 2">
            <a:extLst>
              <a:ext uri="{FF2B5EF4-FFF2-40B4-BE49-F238E27FC236}">
                <a16:creationId xmlns:a16="http://schemas.microsoft.com/office/drawing/2014/main" id="{DADF5FA3-12A0-5467-C75D-51874C4158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AA831B-3CAA-071F-88C7-457A7061C4C7}"/>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3096345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C48D5-49D1-A674-D0B9-5028E9CED86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6E6D76F-50BB-AFF9-6CBE-FF1712085D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F77C50E-E565-39BF-5F92-42975CCD5C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00610C3-FCDE-5CE4-8940-C47DE2D84032}"/>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6" name="Footer Placeholder 5">
            <a:extLst>
              <a:ext uri="{FF2B5EF4-FFF2-40B4-BE49-F238E27FC236}">
                <a16:creationId xmlns:a16="http://schemas.microsoft.com/office/drawing/2014/main" id="{DBB9989B-67CE-B8A4-2841-F193BC7897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FB6718-4B99-51FA-7A88-BF0C505E1525}"/>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3776005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FF6D2-65E4-F777-BE44-DC57D8968D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D62A91F-978A-3774-019F-EEC56C0CBA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D4ACF4-8A49-BBAF-FB4C-AD780FC063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088C70-1B70-85C3-0C83-F70F137C6540}"/>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6" name="Footer Placeholder 5">
            <a:extLst>
              <a:ext uri="{FF2B5EF4-FFF2-40B4-BE49-F238E27FC236}">
                <a16:creationId xmlns:a16="http://schemas.microsoft.com/office/drawing/2014/main" id="{45F21548-17D6-63EA-6387-58EFAC36EE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579920-F0F5-4088-52A5-23CEAE7242B1}"/>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3404576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299D8-46B4-259F-8A63-7B12BA04C20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1777E29-B123-B3A3-7114-F1703792E66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33AE44F-DA4B-6D45-A3A6-54DE82A76597}"/>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5" name="Footer Placeholder 4">
            <a:extLst>
              <a:ext uri="{FF2B5EF4-FFF2-40B4-BE49-F238E27FC236}">
                <a16:creationId xmlns:a16="http://schemas.microsoft.com/office/drawing/2014/main" id="{61E6A5B7-550A-2E24-F898-981AC3E1B4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891E70-95E9-F9BA-175B-2B24AD1709B1}"/>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1722229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9B6F65-B4D0-DE87-7820-E5907A3265E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A8063F-1909-6132-4667-AC2C3575D55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558FFF5-0E13-A115-7FB8-16CC4A34A857}"/>
              </a:ext>
            </a:extLst>
          </p:cNvPr>
          <p:cNvSpPr>
            <a:spLocks noGrp="1"/>
          </p:cNvSpPr>
          <p:nvPr>
            <p:ph type="dt" sz="half" idx="10"/>
          </p:nvPr>
        </p:nvSpPr>
        <p:spPr/>
        <p:txBody>
          <a:bodyPr/>
          <a:lstStyle/>
          <a:p>
            <a:fld id="{E6EA62B7-21B3-1545-A9CC-DBEA4D7ACFD2}" type="datetimeFigureOut">
              <a:rPr lang="en-US" smtClean="0"/>
              <a:t>10/30/25</a:t>
            </a:fld>
            <a:endParaRPr lang="en-US"/>
          </a:p>
        </p:txBody>
      </p:sp>
      <p:sp>
        <p:nvSpPr>
          <p:cNvPr id="5" name="Footer Placeholder 4">
            <a:extLst>
              <a:ext uri="{FF2B5EF4-FFF2-40B4-BE49-F238E27FC236}">
                <a16:creationId xmlns:a16="http://schemas.microsoft.com/office/drawing/2014/main" id="{5CD677D6-4538-9ECC-59A0-08AC041869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1351A-1BC8-B7F4-674F-ABACDA174866}"/>
              </a:ext>
            </a:extLst>
          </p:cNvPr>
          <p:cNvSpPr>
            <a:spLocks noGrp="1"/>
          </p:cNvSpPr>
          <p:nvPr>
            <p:ph type="sldNum" sz="quarter" idx="12"/>
          </p:nvPr>
        </p:nvSpPr>
        <p:spPr/>
        <p:txBody>
          <a:bodyPr/>
          <a:lstStyle/>
          <a:p>
            <a:fld id="{74794C7B-B991-9543-AABF-38DC211D6843}" type="slidenum">
              <a:rPr lang="en-US" smtClean="0"/>
              <a:t>‹#›</a:t>
            </a:fld>
            <a:endParaRPr lang="en-US"/>
          </a:p>
        </p:txBody>
      </p:sp>
    </p:spTree>
    <p:extLst>
      <p:ext uri="{BB962C8B-B14F-4D97-AF65-F5344CB8AC3E}">
        <p14:creationId xmlns:p14="http://schemas.microsoft.com/office/powerpoint/2010/main" val="3382170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BEF136-3643-CDBB-0A49-7C42877944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2CD5F2B-17F1-D68E-BC39-1FBD7905DB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E47303E-F681-E6E7-6FF0-494FAA4990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EA62B7-21B3-1545-A9CC-DBEA4D7ACFD2}" type="datetimeFigureOut">
              <a:rPr lang="en-US" smtClean="0"/>
              <a:t>10/30/25</a:t>
            </a:fld>
            <a:endParaRPr lang="en-US"/>
          </a:p>
        </p:txBody>
      </p:sp>
      <p:sp>
        <p:nvSpPr>
          <p:cNvPr id="5" name="Footer Placeholder 4">
            <a:extLst>
              <a:ext uri="{FF2B5EF4-FFF2-40B4-BE49-F238E27FC236}">
                <a16:creationId xmlns:a16="http://schemas.microsoft.com/office/drawing/2014/main" id="{CC814D60-45BD-02EA-8AFD-DEA4E02E71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C780141-1FF3-CD98-73FB-B9E7592B53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794C7B-B991-9543-AABF-38DC211D6843}" type="slidenum">
              <a:rPr lang="en-US" smtClean="0"/>
              <a:t>‹#›</a:t>
            </a:fld>
            <a:endParaRPr lang="en-US"/>
          </a:p>
        </p:txBody>
      </p:sp>
    </p:spTree>
    <p:extLst>
      <p:ext uri="{BB962C8B-B14F-4D97-AF65-F5344CB8AC3E}">
        <p14:creationId xmlns:p14="http://schemas.microsoft.com/office/powerpoint/2010/main" val="1624434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0.png"/><Relationship Id="rId3" Type="http://schemas.openxmlformats.org/officeDocument/2006/relationships/image" Target="../media/image8.png"/><Relationship Id="rId21" Type="http://schemas.openxmlformats.org/officeDocument/2006/relationships/image" Target="../media/image22.png"/><Relationship Id="rId7" Type="http://schemas.microsoft.com/office/2007/relationships/hdphoto" Target="../media/hdphoto1.wdp"/><Relationship Id="rId12" Type="http://schemas.openxmlformats.org/officeDocument/2006/relationships/image" Target="../media/image16.png"/><Relationship Id="rId17" Type="http://schemas.microsoft.com/office/2007/relationships/hdphoto" Target="../media/hdphoto3.wdp"/><Relationship Id="rId2" Type="http://schemas.openxmlformats.org/officeDocument/2006/relationships/notesSlide" Target="../notesSlides/notesSlide5.xml"/><Relationship Id="rId16" Type="http://schemas.openxmlformats.org/officeDocument/2006/relationships/image" Target="../media/image19.png"/><Relationship Id="rId20" Type="http://schemas.microsoft.com/office/2007/relationships/hdphoto" Target="../media/hdphoto4.wdp"/><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10.png"/><Relationship Id="rId15" Type="http://schemas.openxmlformats.org/officeDocument/2006/relationships/image" Target="../media/image18.png"/><Relationship Id="rId10" Type="http://schemas.openxmlformats.org/officeDocument/2006/relationships/image" Target="../media/image14.png"/><Relationship Id="rId19" Type="http://schemas.openxmlformats.org/officeDocument/2006/relationships/image" Target="../media/image21.png"/><Relationship Id="rId4" Type="http://schemas.openxmlformats.org/officeDocument/2006/relationships/image" Target="../media/image9.png"/><Relationship Id="rId9" Type="http://schemas.openxmlformats.org/officeDocument/2006/relationships/image" Target="../media/image13.png"/><Relationship Id="rId14" Type="http://schemas.microsoft.com/office/2007/relationships/hdphoto" Target="../media/hdphoto2.wdp"/></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A869DC-689D-8DA2-1087-D58C6FA2FB86}"/>
              </a:ext>
            </a:extLst>
          </p:cNvPr>
          <p:cNvSpPr/>
          <p:nvPr/>
        </p:nvSpPr>
        <p:spPr>
          <a:xfrm>
            <a:off x="0" y="-123324"/>
            <a:ext cx="12192000" cy="5835391"/>
          </a:xfrm>
          <a:prstGeom prst="rect">
            <a:avLst/>
          </a:prstGeom>
          <a:solidFill>
            <a:srgbClr val="AECF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D0AF918C-2692-D11F-7289-1E14E0FEC636}"/>
              </a:ext>
            </a:extLst>
          </p:cNvPr>
          <p:cNvSpPr txBox="1"/>
          <p:nvPr/>
        </p:nvSpPr>
        <p:spPr>
          <a:xfrm>
            <a:off x="697531" y="801586"/>
            <a:ext cx="7814081" cy="1015663"/>
          </a:xfrm>
          <a:prstGeom prst="rect">
            <a:avLst/>
          </a:prstGeom>
          <a:noFill/>
        </p:spPr>
        <p:txBody>
          <a:bodyPr wrap="square">
            <a:spAutoFit/>
          </a:bodyPr>
          <a:lstStyle/>
          <a:p>
            <a:r>
              <a:rPr lang="en-GB" sz="6000" b="1" noProof="0" dirty="0">
                <a:solidFill>
                  <a:schemeClr val="accent1">
                    <a:lumMod val="75000"/>
                  </a:schemeClr>
                </a:solidFill>
                <a:latin typeface="PT Sans" panose="020B0503020203020204" pitchFamily="34" charset="77"/>
              </a:rPr>
              <a:t>From Policy to Practice</a:t>
            </a:r>
            <a:endParaRPr lang="en-GB" sz="4400" noProof="0" dirty="0">
              <a:solidFill>
                <a:schemeClr val="accent1">
                  <a:lumMod val="75000"/>
                </a:schemeClr>
              </a:solidFill>
              <a:latin typeface="PT Sans" panose="020B0503020203020204" pitchFamily="34" charset="77"/>
            </a:endParaRPr>
          </a:p>
        </p:txBody>
      </p:sp>
      <p:sp>
        <p:nvSpPr>
          <p:cNvPr id="10" name="TextBox 9">
            <a:extLst>
              <a:ext uri="{FF2B5EF4-FFF2-40B4-BE49-F238E27FC236}">
                <a16:creationId xmlns:a16="http://schemas.microsoft.com/office/drawing/2014/main" id="{ECE93AC3-5CAD-CF76-4A99-1ED9033DBA10}"/>
              </a:ext>
            </a:extLst>
          </p:cNvPr>
          <p:cNvSpPr txBox="1"/>
          <p:nvPr/>
        </p:nvSpPr>
        <p:spPr>
          <a:xfrm>
            <a:off x="720319" y="1910012"/>
            <a:ext cx="6910414" cy="1077218"/>
          </a:xfrm>
          <a:prstGeom prst="rect">
            <a:avLst/>
          </a:prstGeom>
          <a:noFill/>
        </p:spPr>
        <p:txBody>
          <a:bodyPr wrap="square">
            <a:spAutoFit/>
          </a:bodyPr>
          <a:lstStyle/>
          <a:p>
            <a:r>
              <a:rPr lang="en-GB" sz="3200" b="1" noProof="0" dirty="0">
                <a:solidFill>
                  <a:schemeClr val="bg1"/>
                </a:solidFill>
                <a:latin typeface="PT Sans" panose="020B0503020203020204" pitchFamily="34" charset="77"/>
              </a:rPr>
              <a:t>Law on Integrated Waste Management &amp; Extended Producer Responsibility </a:t>
            </a:r>
          </a:p>
        </p:txBody>
      </p:sp>
      <p:pic>
        <p:nvPicPr>
          <p:cNvPr id="15" name="Picture 14">
            <a:extLst>
              <a:ext uri="{FF2B5EF4-FFF2-40B4-BE49-F238E27FC236}">
                <a16:creationId xmlns:a16="http://schemas.microsoft.com/office/drawing/2014/main" id="{6A65FBF4-6680-75CD-436F-07B017406DD3}"/>
              </a:ext>
            </a:extLst>
          </p:cNvPr>
          <p:cNvPicPr>
            <a:picLocks noChangeAspect="1"/>
          </p:cNvPicPr>
          <p:nvPr/>
        </p:nvPicPr>
        <p:blipFill>
          <a:blip r:embed="rId3"/>
          <a:srcRect t="14922" b="23433"/>
          <a:stretch>
            <a:fillRect/>
          </a:stretch>
        </p:blipFill>
        <p:spPr>
          <a:xfrm>
            <a:off x="7587429" y="5712067"/>
            <a:ext cx="2361602" cy="1056646"/>
          </a:xfrm>
          <a:prstGeom prst="rect">
            <a:avLst/>
          </a:prstGeom>
        </p:spPr>
      </p:pic>
      <p:pic>
        <p:nvPicPr>
          <p:cNvPr id="17" name="Picture 16">
            <a:extLst>
              <a:ext uri="{FF2B5EF4-FFF2-40B4-BE49-F238E27FC236}">
                <a16:creationId xmlns:a16="http://schemas.microsoft.com/office/drawing/2014/main" id="{0F78C635-00EF-E8CF-73EE-DF3BA8BDDCB9}"/>
              </a:ext>
            </a:extLst>
          </p:cNvPr>
          <p:cNvPicPr>
            <a:picLocks noChangeAspect="1"/>
          </p:cNvPicPr>
          <p:nvPr/>
        </p:nvPicPr>
        <p:blipFill>
          <a:blip r:embed="rId4"/>
          <a:stretch>
            <a:fillRect/>
          </a:stretch>
        </p:blipFill>
        <p:spPr>
          <a:xfrm>
            <a:off x="382125" y="5866635"/>
            <a:ext cx="2158995" cy="787133"/>
          </a:xfrm>
          <a:prstGeom prst="rect">
            <a:avLst/>
          </a:prstGeom>
        </p:spPr>
      </p:pic>
      <p:pic>
        <p:nvPicPr>
          <p:cNvPr id="19" name="Picture 18">
            <a:extLst>
              <a:ext uri="{FF2B5EF4-FFF2-40B4-BE49-F238E27FC236}">
                <a16:creationId xmlns:a16="http://schemas.microsoft.com/office/drawing/2014/main" id="{8847EC3C-FB33-B713-5364-614E61B2BA59}"/>
              </a:ext>
            </a:extLst>
          </p:cNvPr>
          <p:cNvPicPr>
            <a:picLocks noChangeAspect="1"/>
          </p:cNvPicPr>
          <p:nvPr/>
        </p:nvPicPr>
        <p:blipFill>
          <a:blip r:embed="rId5"/>
          <a:stretch>
            <a:fillRect/>
          </a:stretch>
        </p:blipFill>
        <p:spPr>
          <a:xfrm>
            <a:off x="9949031" y="5804830"/>
            <a:ext cx="2185016" cy="910744"/>
          </a:xfrm>
          <a:prstGeom prst="rect">
            <a:avLst/>
          </a:prstGeom>
        </p:spPr>
      </p:pic>
      <p:sp>
        <p:nvSpPr>
          <p:cNvPr id="5" name="TextBox 4">
            <a:extLst>
              <a:ext uri="{FF2B5EF4-FFF2-40B4-BE49-F238E27FC236}">
                <a16:creationId xmlns:a16="http://schemas.microsoft.com/office/drawing/2014/main" id="{E6A126D4-1444-3DFE-C79D-2730607FBB64}"/>
              </a:ext>
            </a:extLst>
          </p:cNvPr>
          <p:cNvSpPr txBox="1"/>
          <p:nvPr/>
        </p:nvSpPr>
        <p:spPr>
          <a:xfrm>
            <a:off x="4604572" y="5950305"/>
            <a:ext cx="2982857" cy="738664"/>
          </a:xfrm>
          <a:prstGeom prst="rect">
            <a:avLst/>
          </a:prstGeom>
          <a:noFill/>
        </p:spPr>
        <p:txBody>
          <a:bodyPr wrap="square">
            <a:spAutoFit/>
          </a:bodyPr>
          <a:lstStyle/>
          <a:p>
            <a:pPr algn="ctr" rtl="0">
              <a:buNone/>
            </a:pPr>
            <a:r>
              <a:rPr lang="en-IN" sz="600" b="0" i="0" u="none" strike="noStrike" dirty="0" err="1">
                <a:effectLst/>
                <a:latin typeface="Book Antiqua" panose="02040602050305030304" pitchFamily="18" charset="0"/>
              </a:rPr>
              <a:t>Republika</a:t>
            </a:r>
            <a:r>
              <a:rPr lang="en-IN" sz="600" b="0" i="0" u="none" strike="noStrike" dirty="0">
                <a:effectLst/>
                <a:latin typeface="Book Antiqua" panose="02040602050305030304" pitchFamily="18" charset="0"/>
              </a:rPr>
              <a:t> e </a:t>
            </a:r>
            <a:r>
              <a:rPr lang="en-IN" sz="600" b="0" i="0" u="none" strike="noStrike" dirty="0" err="1">
                <a:effectLst/>
                <a:latin typeface="Book Antiqua" panose="02040602050305030304" pitchFamily="18" charset="0"/>
              </a:rPr>
              <a:t>Kosovës</a:t>
            </a:r>
            <a:endParaRPr lang="en-IN" sz="600" b="0" dirty="0">
              <a:effectLst/>
            </a:endParaRPr>
          </a:p>
          <a:p>
            <a:pPr algn="ctr" rtl="0">
              <a:buNone/>
            </a:pPr>
            <a:r>
              <a:rPr lang="en-IN" sz="600" b="0" i="0" u="none" strike="noStrike" dirty="0" err="1">
                <a:effectLst/>
                <a:latin typeface="Book Antiqua" panose="02040602050305030304" pitchFamily="18" charset="0"/>
              </a:rPr>
              <a:t>Republika</a:t>
            </a:r>
            <a:r>
              <a:rPr lang="en-IN" sz="600" b="0" i="0" u="none" strike="noStrike" dirty="0">
                <a:effectLst/>
                <a:latin typeface="Book Antiqua" panose="02040602050305030304" pitchFamily="18" charset="0"/>
              </a:rPr>
              <a:t> Kosova - Republic of Kosovo</a:t>
            </a:r>
            <a:endParaRPr lang="en-IN" sz="600" b="0" dirty="0">
              <a:effectLst/>
            </a:endParaRPr>
          </a:p>
          <a:p>
            <a:pPr algn="ctr" rtl="0">
              <a:buNone/>
            </a:pPr>
            <a:r>
              <a:rPr lang="en-IN" sz="600" b="0" i="0" u="none" strike="noStrike" dirty="0" err="1">
                <a:effectLst/>
                <a:latin typeface="Book Antiqua" panose="02040602050305030304" pitchFamily="18" charset="0"/>
              </a:rPr>
              <a:t>Qeveria</a:t>
            </a:r>
            <a:r>
              <a:rPr lang="en-IN" sz="600" b="0" i="0" u="none" strike="noStrike" dirty="0">
                <a:effectLst/>
                <a:latin typeface="Book Antiqua" panose="02040602050305030304" pitchFamily="18" charset="0"/>
              </a:rPr>
              <a:t> - Vlada - Government </a:t>
            </a:r>
            <a:endParaRPr lang="en-IN" sz="600" b="0" dirty="0">
              <a:effectLst/>
            </a:endParaRPr>
          </a:p>
          <a:p>
            <a:pPr>
              <a:buNone/>
            </a:pPr>
            <a:endParaRPr lang="en-IN" sz="600" b="0" dirty="0">
              <a:effectLst/>
            </a:endParaRPr>
          </a:p>
          <a:p>
            <a:pPr algn="ctr" rtl="0">
              <a:buNone/>
            </a:pPr>
            <a:r>
              <a:rPr lang="en-IN" sz="600" b="0" i="0" u="none" strike="noStrike" dirty="0" err="1">
                <a:effectLst/>
                <a:latin typeface="Book Antiqua" panose="02040602050305030304" pitchFamily="18" charset="0"/>
              </a:rPr>
              <a:t>Ministria</a:t>
            </a:r>
            <a:r>
              <a:rPr lang="en-IN" sz="600" b="0" i="0" u="none" strike="noStrike" dirty="0">
                <a:effectLst/>
                <a:latin typeface="Book Antiqua" panose="02040602050305030304" pitchFamily="18" charset="0"/>
              </a:rPr>
              <a:t> e </a:t>
            </a:r>
            <a:r>
              <a:rPr lang="en-IN" sz="600" b="0" i="0" u="none" strike="noStrike" dirty="0" err="1">
                <a:effectLst/>
                <a:latin typeface="Book Antiqua" panose="02040602050305030304" pitchFamily="18" charset="0"/>
              </a:rPr>
              <a:t>Mjedisit</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Planifikimit</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Hapësinor</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dhe</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Infrastrukturës</a:t>
            </a:r>
            <a:endParaRPr lang="en-IN" sz="600" b="0" dirty="0">
              <a:effectLst/>
            </a:endParaRPr>
          </a:p>
          <a:p>
            <a:pPr algn="ctr" rtl="0">
              <a:buNone/>
            </a:pPr>
            <a:r>
              <a:rPr lang="en-IN" sz="600" b="0" i="0" u="none" strike="noStrike" dirty="0" err="1">
                <a:effectLst/>
                <a:latin typeface="Book Antiqua" panose="02040602050305030304" pitchFamily="18" charset="0"/>
              </a:rPr>
              <a:t>Ministarstvo</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Zivotne</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Sredine</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Prostornog</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planiranja</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i</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Infrastrukture</a:t>
            </a:r>
            <a:endParaRPr lang="en-IN" sz="600" b="0" dirty="0">
              <a:effectLst/>
            </a:endParaRPr>
          </a:p>
          <a:p>
            <a:pPr algn="ctr" rtl="0">
              <a:buNone/>
            </a:pPr>
            <a:r>
              <a:rPr lang="en-IN" sz="600" b="0" i="0" u="none" strike="noStrike" dirty="0">
                <a:effectLst/>
                <a:latin typeface="Book Antiqua" panose="02040602050305030304" pitchFamily="18" charset="0"/>
              </a:rPr>
              <a:t>Ministry of  Environment, Spatial Planning and Infrastructure</a:t>
            </a:r>
            <a:endParaRPr lang="en-US" sz="600" dirty="0"/>
          </a:p>
        </p:txBody>
      </p:sp>
      <p:pic>
        <p:nvPicPr>
          <p:cNvPr id="1028" name="Picture 4">
            <a:extLst>
              <a:ext uri="{FF2B5EF4-FFF2-40B4-BE49-F238E27FC236}">
                <a16:creationId xmlns:a16="http://schemas.microsoft.com/office/drawing/2014/main" id="{8B8DE4AE-4D59-F5E2-9CCF-540BB11EDF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7922" y="5864267"/>
            <a:ext cx="788078" cy="87317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1B9EA038-554D-291B-7A79-E5FE48871651}"/>
              </a:ext>
            </a:extLst>
          </p:cNvPr>
          <p:cNvPicPr>
            <a:picLocks noChangeAspect="1"/>
          </p:cNvPicPr>
          <p:nvPr/>
        </p:nvPicPr>
        <p:blipFill>
          <a:blip r:embed="rId7"/>
          <a:srcRect l="19284" t="12741" r="19171" b="9353"/>
          <a:stretch>
            <a:fillRect/>
          </a:stretch>
        </p:blipFill>
        <p:spPr>
          <a:xfrm>
            <a:off x="7439895" y="684556"/>
            <a:ext cx="4694152" cy="4981130"/>
          </a:xfrm>
          <a:prstGeom prst="rect">
            <a:avLst/>
          </a:prstGeom>
        </p:spPr>
      </p:pic>
      <p:sp>
        <p:nvSpPr>
          <p:cNvPr id="12" name="TextBox 11">
            <a:extLst>
              <a:ext uri="{FF2B5EF4-FFF2-40B4-BE49-F238E27FC236}">
                <a16:creationId xmlns:a16="http://schemas.microsoft.com/office/drawing/2014/main" id="{8AEFBC98-BA5C-2607-1190-05A63F852A41}"/>
              </a:ext>
            </a:extLst>
          </p:cNvPr>
          <p:cNvSpPr txBox="1"/>
          <p:nvPr/>
        </p:nvSpPr>
        <p:spPr>
          <a:xfrm>
            <a:off x="740290" y="4446191"/>
            <a:ext cx="7728562" cy="923330"/>
          </a:xfrm>
          <a:prstGeom prst="rect">
            <a:avLst/>
          </a:prstGeom>
          <a:noFill/>
        </p:spPr>
        <p:txBody>
          <a:bodyPr wrap="square">
            <a:spAutoFit/>
          </a:bodyPr>
          <a:lstStyle/>
          <a:p>
            <a:r>
              <a:rPr lang="en-GB" b="1" noProof="0" dirty="0">
                <a:solidFill>
                  <a:schemeClr val="bg1"/>
                </a:solidFill>
                <a:latin typeface="PT Sans" panose="020B0503020203020204" pitchFamily="34" charset="77"/>
              </a:rPr>
              <a:t>Agim </a:t>
            </a:r>
            <a:r>
              <a:rPr lang="en-GB" b="1" noProof="0" dirty="0" err="1">
                <a:solidFill>
                  <a:schemeClr val="bg1"/>
                </a:solidFill>
                <a:latin typeface="PT Sans" panose="020B0503020203020204" pitchFamily="34" charset="77"/>
              </a:rPr>
              <a:t>Mazreku</a:t>
            </a:r>
            <a:br>
              <a:rPr lang="en-GB" noProof="0" dirty="0">
                <a:solidFill>
                  <a:schemeClr val="bg1"/>
                </a:solidFill>
                <a:latin typeface="PT Sans" panose="020B0503020203020204" pitchFamily="34" charset="77"/>
              </a:rPr>
            </a:br>
            <a:r>
              <a:rPr lang="en-GB" noProof="0" dirty="0">
                <a:solidFill>
                  <a:schemeClr val="bg1"/>
                </a:solidFill>
                <a:latin typeface="PT Sans" panose="020B0503020203020204" pitchFamily="34" charset="77"/>
              </a:rPr>
              <a:t>Advisor on Climate, Environment and Energy</a:t>
            </a:r>
          </a:p>
          <a:p>
            <a:r>
              <a:rPr lang="en-GB" dirty="0">
                <a:solidFill>
                  <a:schemeClr val="bg1"/>
                </a:solidFill>
                <a:latin typeface="PT Sans" panose="020B0503020203020204" pitchFamily="34" charset="77"/>
              </a:rPr>
              <a:t>Ministry of Environment, Spatial Planning and Infrastructure</a:t>
            </a:r>
            <a:endParaRPr lang="en-GB" noProof="0" dirty="0">
              <a:solidFill>
                <a:schemeClr val="bg1"/>
              </a:solidFill>
              <a:latin typeface="PT Sans" panose="020B0503020203020204" pitchFamily="34" charset="77"/>
            </a:endParaRPr>
          </a:p>
        </p:txBody>
      </p:sp>
    </p:spTree>
    <p:extLst>
      <p:ext uri="{BB962C8B-B14F-4D97-AF65-F5344CB8AC3E}">
        <p14:creationId xmlns:p14="http://schemas.microsoft.com/office/powerpoint/2010/main" val="1913717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F0687-8547-6B2D-55B7-F8A88CDF44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DF15A44-A307-E637-925C-6FA61FEE7370}"/>
              </a:ext>
            </a:extLst>
          </p:cNvPr>
          <p:cNvSpPr txBox="1"/>
          <p:nvPr/>
        </p:nvSpPr>
        <p:spPr>
          <a:xfrm>
            <a:off x="486269" y="565577"/>
            <a:ext cx="11219460"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Pathways to a Circular Future: A New Law</a:t>
            </a:r>
            <a:endParaRPr lang="en-GB" sz="4800" noProof="0" dirty="0">
              <a:solidFill>
                <a:srgbClr val="709F51"/>
              </a:solidFill>
              <a:latin typeface="PT Sans" panose="020B0503020203020204" pitchFamily="34" charset="77"/>
            </a:endParaRPr>
          </a:p>
        </p:txBody>
      </p:sp>
      <p:sp>
        <p:nvSpPr>
          <p:cNvPr id="4" name="TextBox 3">
            <a:extLst>
              <a:ext uri="{FF2B5EF4-FFF2-40B4-BE49-F238E27FC236}">
                <a16:creationId xmlns:a16="http://schemas.microsoft.com/office/drawing/2014/main" id="{6AC7B8FF-A746-52E3-D4DF-48FB826A3321}"/>
              </a:ext>
            </a:extLst>
          </p:cNvPr>
          <p:cNvSpPr txBox="1"/>
          <p:nvPr/>
        </p:nvSpPr>
        <p:spPr>
          <a:xfrm>
            <a:off x="3978442" y="2197768"/>
            <a:ext cx="7860632" cy="369331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PT Sans" panose="020B0503020203020204" pitchFamily="34" charset="77"/>
              </a:rPr>
              <a:t>Kosovo is transitioning from </a:t>
            </a:r>
            <a:r>
              <a:rPr lang="en-GB" b="1" dirty="0">
                <a:latin typeface="PT Sans" panose="020B0503020203020204" pitchFamily="34" charset="77"/>
              </a:rPr>
              <a:t>waste disposal to resource management</a:t>
            </a:r>
            <a:r>
              <a:rPr lang="en-GB" dirty="0">
                <a:latin typeface="PT Sans" panose="020B0503020203020204" pitchFamily="34" charset="77"/>
              </a:rPr>
              <a:t>.</a:t>
            </a:r>
          </a:p>
          <a:p>
            <a:pPr marL="285750" indent="-285750">
              <a:buFont typeface="Arial" panose="020B0604020202020204" pitchFamily="34" charset="0"/>
              <a:buChar char="•"/>
            </a:pPr>
            <a:endParaRPr lang="en-GB" dirty="0">
              <a:latin typeface="PT Sans" panose="020B0503020203020204" pitchFamily="34" charset="77"/>
            </a:endParaRPr>
          </a:p>
          <a:p>
            <a:pPr marL="285750" indent="-285750">
              <a:buFont typeface="Arial" panose="020B0604020202020204" pitchFamily="34" charset="0"/>
              <a:buChar char="•"/>
            </a:pPr>
            <a:r>
              <a:rPr lang="en-GB" dirty="0">
                <a:latin typeface="PT Sans" panose="020B0503020203020204" pitchFamily="34" charset="77"/>
              </a:rPr>
              <a:t>The Ministry of Environment, Spatial Planning and Infrastructure has initiated the drafting of a </a:t>
            </a:r>
            <a:r>
              <a:rPr lang="en-GB" b="1" dirty="0">
                <a:latin typeface="PT Sans" panose="020B0503020203020204" pitchFamily="34" charset="77"/>
              </a:rPr>
              <a:t>new Law on Integrated Waste Management</a:t>
            </a:r>
            <a:r>
              <a:rPr lang="en-GB" dirty="0">
                <a:latin typeface="PT Sans" panose="020B0503020203020204" pitchFamily="34" charset="77"/>
              </a:rPr>
              <a:t>, which is foreseen in the Government Legislative Program for 2025.</a:t>
            </a:r>
          </a:p>
          <a:p>
            <a:pPr marL="285750" indent="-285750">
              <a:buFont typeface="Arial" panose="020B0604020202020204" pitchFamily="34" charset="0"/>
              <a:buChar char="•"/>
            </a:pPr>
            <a:endParaRPr lang="en-GB" dirty="0">
              <a:latin typeface="PT Sans" panose="020B0503020203020204" pitchFamily="34" charset="77"/>
            </a:endParaRPr>
          </a:p>
          <a:p>
            <a:pPr marL="285750" indent="-285750">
              <a:buFont typeface="Arial" panose="020B0604020202020204" pitchFamily="34" charset="0"/>
              <a:buChar char="•"/>
            </a:pPr>
            <a:r>
              <a:rPr lang="en-GB" dirty="0">
                <a:latin typeface="PT Sans" panose="020B0503020203020204" pitchFamily="34" charset="77"/>
              </a:rPr>
              <a:t>This Law will address current challenges in the sector and further align Kosovo with the </a:t>
            </a:r>
            <a:r>
              <a:rPr lang="en-GB" b="1" dirty="0">
                <a:latin typeface="PT Sans" panose="020B0503020203020204" pitchFamily="34" charset="77"/>
              </a:rPr>
              <a:t>EU Waste Framework Directive and the Circular Economy Action Plan (2020)</a:t>
            </a:r>
            <a:r>
              <a:rPr lang="en-GB" dirty="0">
                <a:latin typeface="PT Sans" panose="020B0503020203020204" pitchFamily="34" charset="77"/>
              </a:rPr>
              <a:t>.</a:t>
            </a:r>
          </a:p>
          <a:p>
            <a:pPr marL="285750" indent="-285750">
              <a:buFont typeface="Arial" panose="020B0604020202020204" pitchFamily="34" charset="0"/>
              <a:buChar char="•"/>
            </a:pPr>
            <a:endParaRPr lang="en-GB" dirty="0">
              <a:latin typeface="PT Sans" panose="020B0503020203020204" pitchFamily="34" charset="77"/>
            </a:endParaRPr>
          </a:p>
          <a:p>
            <a:pPr marL="285750" indent="-285750">
              <a:buFont typeface="Arial" panose="020B0604020202020204" pitchFamily="34" charset="0"/>
              <a:buChar char="•"/>
            </a:pPr>
            <a:r>
              <a:rPr lang="en-GB" dirty="0">
                <a:latin typeface="PT Sans" panose="020B0503020203020204" pitchFamily="34" charset="77"/>
              </a:rPr>
              <a:t>The </a:t>
            </a:r>
            <a:r>
              <a:rPr lang="en-GB" b="1" dirty="0">
                <a:latin typeface="PT Sans" panose="020B0503020203020204" pitchFamily="34" charset="77"/>
              </a:rPr>
              <a:t>goal </a:t>
            </a:r>
            <a:r>
              <a:rPr lang="en-GB" dirty="0">
                <a:latin typeface="PT Sans" panose="020B0503020203020204" pitchFamily="34" charset="77"/>
              </a:rPr>
              <a:t>of the Government is to build a modern, transparent, and sustainable integrated waste system that supports a circular economy.</a:t>
            </a:r>
          </a:p>
          <a:p>
            <a:endParaRPr lang="en-US" dirty="0"/>
          </a:p>
        </p:txBody>
      </p:sp>
      <p:sp>
        <p:nvSpPr>
          <p:cNvPr id="9" name="Oval 8">
            <a:extLst>
              <a:ext uri="{FF2B5EF4-FFF2-40B4-BE49-F238E27FC236}">
                <a16:creationId xmlns:a16="http://schemas.microsoft.com/office/drawing/2014/main" id="{DA1A45C1-5625-F93A-AFE6-9E203D7C2AE2}"/>
              </a:ext>
            </a:extLst>
          </p:cNvPr>
          <p:cNvSpPr/>
          <p:nvPr/>
        </p:nvSpPr>
        <p:spPr>
          <a:xfrm>
            <a:off x="1235242" y="2566737"/>
            <a:ext cx="2438400" cy="2422358"/>
          </a:xfrm>
          <a:prstGeom prst="ellipse">
            <a:avLst/>
          </a:prstGeom>
          <a:solidFill>
            <a:srgbClr val="AECF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F1DB0049-CF17-01BB-485E-A5EDF8850431}"/>
              </a:ext>
            </a:extLst>
          </p:cNvPr>
          <p:cNvPicPr>
            <a:picLocks noChangeAspect="1"/>
          </p:cNvPicPr>
          <p:nvPr/>
        </p:nvPicPr>
        <p:blipFill>
          <a:blip r:embed="rId2"/>
          <a:srcRect l="23125" t="25394" r="40055" b="30363"/>
          <a:stretch>
            <a:fillRect/>
          </a:stretch>
        </p:blipFill>
        <p:spPr>
          <a:xfrm>
            <a:off x="1042736" y="2322094"/>
            <a:ext cx="2197769" cy="2213811"/>
          </a:xfrm>
          <a:prstGeom prst="rect">
            <a:avLst/>
          </a:prstGeom>
        </p:spPr>
      </p:pic>
    </p:spTree>
    <p:extLst>
      <p:ext uri="{BB962C8B-B14F-4D97-AF65-F5344CB8AC3E}">
        <p14:creationId xmlns:p14="http://schemas.microsoft.com/office/powerpoint/2010/main" val="121635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2ACEE-E71A-7980-CF56-85C7B46625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46ADB6-ECC1-AD4C-197A-3DD27103DCCF}"/>
              </a:ext>
            </a:extLst>
          </p:cNvPr>
          <p:cNvSpPr txBox="1"/>
          <p:nvPr/>
        </p:nvSpPr>
        <p:spPr>
          <a:xfrm>
            <a:off x="486269" y="565576"/>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Why a New Law?</a:t>
            </a:r>
          </a:p>
        </p:txBody>
      </p:sp>
      <p:sp>
        <p:nvSpPr>
          <p:cNvPr id="7" name="Triangle 6">
            <a:extLst>
              <a:ext uri="{FF2B5EF4-FFF2-40B4-BE49-F238E27FC236}">
                <a16:creationId xmlns:a16="http://schemas.microsoft.com/office/drawing/2014/main" id="{C3EAF8B4-8158-4D19-F2CD-B949D9FD328E}"/>
              </a:ext>
            </a:extLst>
          </p:cNvPr>
          <p:cNvSpPr/>
          <p:nvPr/>
        </p:nvSpPr>
        <p:spPr>
          <a:xfrm rot="10800000">
            <a:off x="3338630" y="1616043"/>
            <a:ext cx="272716" cy="208547"/>
          </a:xfrm>
          <a:prstGeom prst="triangle">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5C02E57-262E-2190-7E90-E8DDFDB35C33}"/>
              </a:ext>
            </a:extLst>
          </p:cNvPr>
          <p:cNvSpPr txBox="1"/>
          <p:nvPr/>
        </p:nvSpPr>
        <p:spPr>
          <a:xfrm>
            <a:off x="6296769" y="2422358"/>
            <a:ext cx="4363453" cy="553998"/>
          </a:xfrm>
          <a:prstGeom prst="rect">
            <a:avLst/>
          </a:prstGeom>
          <a:noFill/>
        </p:spPr>
        <p:txBody>
          <a:bodyPr wrap="square" rtlCol="0">
            <a:spAutoFit/>
          </a:bodyPr>
          <a:lstStyle/>
          <a:p>
            <a:pPr algn="ctr"/>
            <a:r>
              <a:rPr lang="en-US" sz="3000" b="1" dirty="0">
                <a:solidFill>
                  <a:schemeClr val="bg1"/>
                </a:solidFill>
                <a:latin typeface="PT Sans" panose="020B0503020203020204" pitchFamily="34" charset="77"/>
              </a:rPr>
              <a:t>Current Challenges </a:t>
            </a:r>
          </a:p>
        </p:txBody>
      </p:sp>
      <p:sp>
        <p:nvSpPr>
          <p:cNvPr id="14" name="Rounded Rectangle 13">
            <a:extLst>
              <a:ext uri="{FF2B5EF4-FFF2-40B4-BE49-F238E27FC236}">
                <a16:creationId xmlns:a16="http://schemas.microsoft.com/office/drawing/2014/main" id="{3791449D-F1B6-AC6A-3254-AEFAE1E43D87}"/>
              </a:ext>
            </a:extLst>
          </p:cNvPr>
          <p:cNvSpPr/>
          <p:nvPr/>
        </p:nvSpPr>
        <p:spPr>
          <a:xfrm>
            <a:off x="757478" y="2010053"/>
            <a:ext cx="5539291" cy="4447582"/>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7235202-4BA1-9EE4-28F2-05A0FCF07CB4}"/>
              </a:ext>
            </a:extLst>
          </p:cNvPr>
          <p:cNvSpPr txBox="1"/>
          <p:nvPr/>
        </p:nvSpPr>
        <p:spPr>
          <a:xfrm>
            <a:off x="1214677" y="2411105"/>
            <a:ext cx="4363453" cy="553998"/>
          </a:xfrm>
          <a:prstGeom prst="rect">
            <a:avLst/>
          </a:prstGeom>
          <a:noFill/>
        </p:spPr>
        <p:txBody>
          <a:bodyPr wrap="square" rtlCol="0">
            <a:spAutoFit/>
          </a:bodyPr>
          <a:lstStyle/>
          <a:p>
            <a:pPr algn="ctr"/>
            <a:r>
              <a:rPr lang="en-US" sz="3000" b="1" dirty="0">
                <a:solidFill>
                  <a:schemeClr val="bg1"/>
                </a:solidFill>
                <a:latin typeface="PT Sans" panose="020B0503020203020204" pitchFamily="34" charset="77"/>
              </a:rPr>
              <a:t>Current Challenges </a:t>
            </a:r>
          </a:p>
        </p:txBody>
      </p:sp>
      <p:sp>
        <p:nvSpPr>
          <p:cNvPr id="16" name="TextBox 15">
            <a:extLst>
              <a:ext uri="{FF2B5EF4-FFF2-40B4-BE49-F238E27FC236}">
                <a16:creationId xmlns:a16="http://schemas.microsoft.com/office/drawing/2014/main" id="{9A4F10E8-D097-6482-75FC-F4E35289D800}"/>
              </a:ext>
            </a:extLst>
          </p:cNvPr>
          <p:cNvSpPr txBox="1"/>
          <p:nvPr/>
        </p:nvSpPr>
        <p:spPr>
          <a:xfrm>
            <a:off x="1214677" y="3020887"/>
            <a:ext cx="4793339" cy="2970044"/>
          </a:xfrm>
          <a:prstGeom prst="rect">
            <a:avLst/>
          </a:prstGeom>
          <a:noFill/>
        </p:spPr>
        <p:txBody>
          <a:bodyPr wrap="square" rtlCol="0">
            <a:spAutoFit/>
          </a:bodyPr>
          <a:lstStyle/>
          <a:p>
            <a:pPr marL="342900" indent="-342900">
              <a:buFont typeface="Arial" panose="020B0604020202020204" pitchFamily="34" charset="0"/>
              <a:buChar char="•"/>
            </a:pPr>
            <a:r>
              <a:rPr lang="en-GB" sz="1700" dirty="0">
                <a:solidFill>
                  <a:schemeClr val="bg1"/>
                </a:solidFill>
                <a:latin typeface="PT Sans" panose="020B0503020203020204" pitchFamily="34" charset="77"/>
              </a:rPr>
              <a:t>Outdated legal base (Law No. 04/L-060, 2012, with focused amendments in 2022 and 2024 related to permits and harmonization with administrative procedures)</a:t>
            </a:r>
          </a:p>
          <a:p>
            <a:pPr marL="342900" indent="-342900">
              <a:buFont typeface="Arial" panose="020B0604020202020204" pitchFamily="34" charset="0"/>
              <a:buChar char="•"/>
            </a:pPr>
            <a:r>
              <a:rPr lang="en-GB" sz="1700" dirty="0">
                <a:solidFill>
                  <a:schemeClr val="bg1"/>
                </a:solidFill>
                <a:latin typeface="PT Sans" panose="020B0503020203020204" pitchFamily="34" charset="77"/>
              </a:rPr>
              <a:t>Weak provisions for Extended Producer Responsibility and Deposit Return System </a:t>
            </a:r>
          </a:p>
          <a:p>
            <a:pPr marL="342900" indent="-342900">
              <a:buFont typeface="Arial" panose="020B0604020202020204" pitchFamily="34" charset="0"/>
              <a:buChar char="•"/>
            </a:pPr>
            <a:r>
              <a:rPr lang="en-GB" sz="1700" dirty="0">
                <a:solidFill>
                  <a:schemeClr val="bg1"/>
                </a:solidFill>
                <a:latin typeface="PT Sans" panose="020B0503020203020204" pitchFamily="34" charset="77"/>
              </a:rPr>
              <a:t>Fragmented institutional roles</a:t>
            </a:r>
          </a:p>
          <a:p>
            <a:pPr marL="342900" indent="-342900">
              <a:buFont typeface="Arial" panose="020B0604020202020204" pitchFamily="34" charset="0"/>
              <a:buChar char="•"/>
            </a:pPr>
            <a:r>
              <a:rPr lang="en-GB" sz="1700" dirty="0">
                <a:solidFill>
                  <a:schemeClr val="bg1"/>
                </a:solidFill>
                <a:latin typeface="PT Sans" panose="020B0503020203020204" pitchFamily="34" charset="77"/>
              </a:rPr>
              <a:t>Lack of financial sustainability and data transparency</a:t>
            </a:r>
          </a:p>
          <a:p>
            <a:pPr marL="342900" indent="-342900">
              <a:buFont typeface="Arial" panose="020B0604020202020204" pitchFamily="34" charset="0"/>
              <a:buChar char="•"/>
            </a:pPr>
            <a:r>
              <a:rPr lang="en-GB" sz="1700" dirty="0">
                <a:solidFill>
                  <a:schemeClr val="bg1"/>
                </a:solidFill>
                <a:latin typeface="PT Sans" panose="020B0503020203020204" pitchFamily="34" charset="77"/>
              </a:rPr>
              <a:t>Heavy dependence on landfilling (≈90% of municipal waste)</a:t>
            </a:r>
          </a:p>
        </p:txBody>
      </p:sp>
    </p:spTree>
    <p:extLst>
      <p:ext uri="{BB962C8B-B14F-4D97-AF65-F5344CB8AC3E}">
        <p14:creationId xmlns:p14="http://schemas.microsoft.com/office/powerpoint/2010/main" val="14656207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757FD-BF2F-4191-5EB2-AC08EC4ACB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D8F79B-3AEE-8916-5C68-55FA22B44A6D}"/>
              </a:ext>
            </a:extLst>
          </p:cNvPr>
          <p:cNvSpPr txBox="1"/>
          <p:nvPr/>
        </p:nvSpPr>
        <p:spPr>
          <a:xfrm>
            <a:off x="486269" y="565576"/>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Why a New Law?</a:t>
            </a:r>
          </a:p>
        </p:txBody>
      </p:sp>
      <p:sp>
        <p:nvSpPr>
          <p:cNvPr id="7" name="Triangle 6">
            <a:extLst>
              <a:ext uri="{FF2B5EF4-FFF2-40B4-BE49-F238E27FC236}">
                <a16:creationId xmlns:a16="http://schemas.microsoft.com/office/drawing/2014/main" id="{91FC3144-F6FC-3C01-110B-6386A76E71E6}"/>
              </a:ext>
            </a:extLst>
          </p:cNvPr>
          <p:cNvSpPr/>
          <p:nvPr/>
        </p:nvSpPr>
        <p:spPr>
          <a:xfrm rot="10800000">
            <a:off x="8959514" y="1605120"/>
            <a:ext cx="272716" cy="208547"/>
          </a:xfrm>
          <a:prstGeom prst="triangle">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082A55A-9806-E3D7-9313-F91EA61542C4}"/>
              </a:ext>
            </a:extLst>
          </p:cNvPr>
          <p:cNvSpPr txBox="1"/>
          <p:nvPr/>
        </p:nvSpPr>
        <p:spPr>
          <a:xfrm>
            <a:off x="6296769" y="2422358"/>
            <a:ext cx="4363453" cy="553998"/>
          </a:xfrm>
          <a:prstGeom prst="rect">
            <a:avLst/>
          </a:prstGeom>
          <a:noFill/>
        </p:spPr>
        <p:txBody>
          <a:bodyPr wrap="square" rtlCol="0">
            <a:spAutoFit/>
          </a:bodyPr>
          <a:lstStyle/>
          <a:p>
            <a:pPr algn="ctr"/>
            <a:r>
              <a:rPr lang="en-US" sz="3000" b="1" dirty="0">
                <a:solidFill>
                  <a:schemeClr val="bg1"/>
                </a:solidFill>
                <a:latin typeface="PT Sans" panose="020B0503020203020204" pitchFamily="34" charset="77"/>
              </a:rPr>
              <a:t>Current Challenges </a:t>
            </a:r>
          </a:p>
        </p:txBody>
      </p:sp>
      <p:sp>
        <p:nvSpPr>
          <p:cNvPr id="14" name="Rounded Rectangle 13">
            <a:extLst>
              <a:ext uri="{FF2B5EF4-FFF2-40B4-BE49-F238E27FC236}">
                <a16:creationId xmlns:a16="http://schemas.microsoft.com/office/drawing/2014/main" id="{52424C28-EE38-DD40-AE4E-B2D853A6243F}"/>
              </a:ext>
            </a:extLst>
          </p:cNvPr>
          <p:cNvSpPr/>
          <p:nvPr/>
        </p:nvSpPr>
        <p:spPr>
          <a:xfrm>
            <a:off x="757478" y="2010053"/>
            <a:ext cx="5539291" cy="4447582"/>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01FCB2E-7192-BA9D-15D5-119993F8E0A3}"/>
              </a:ext>
            </a:extLst>
          </p:cNvPr>
          <p:cNvSpPr txBox="1"/>
          <p:nvPr/>
        </p:nvSpPr>
        <p:spPr>
          <a:xfrm>
            <a:off x="1214677" y="2411105"/>
            <a:ext cx="4363453" cy="553998"/>
          </a:xfrm>
          <a:prstGeom prst="rect">
            <a:avLst/>
          </a:prstGeom>
          <a:noFill/>
        </p:spPr>
        <p:txBody>
          <a:bodyPr wrap="square" rtlCol="0">
            <a:spAutoFit/>
          </a:bodyPr>
          <a:lstStyle/>
          <a:p>
            <a:pPr algn="ctr"/>
            <a:r>
              <a:rPr lang="en-US" sz="3000" b="1" dirty="0">
                <a:solidFill>
                  <a:schemeClr val="bg1"/>
                </a:solidFill>
                <a:latin typeface="PT Sans" panose="020B0503020203020204" pitchFamily="34" charset="77"/>
              </a:rPr>
              <a:t>Current Challenges </a:t>
            </a:r>
          </a:p>
        </p:txBody>
      </p:sp>
      <p:sp>
        <p:nvSpPr>
          <p:cNvPr id="16" name="TextBox 15">
            <a:extLst>
              <a:ext uri="{FF2B5EF4-FFF2-40B4-BE49-F238E27FC236}">
                <a16:creationId xmlns:a16="http://schemas.microsoft.com/office/drawing/2014/main" id="{0216E09A-6F41-E83A-C325-9CA486D5CE23}"/>
              </a:ext>
            </a:extLst>
          </p:cNvPr>
          <p:cNvSpPr txBox="1"/>
          <p:nvPr/>
        </p:nvSpPr>
        <p:spPr>
          <a:xfrm>
            <a:off x="1214677" y="3020887"/>
            <a:ext cx="4793339" cy="2970044"/>
          </a:xfrm>
          <a:prstGeom prst="rect">
            <a:avLst/>
          </a:prstGeom>
          <a:noFill/>
        </p:spPr>
        <p:txBody>
          <a:bodyPr wrap="square" rtlCol="0">
            <a:spAutoFit/>
          </a:bodyPr>
          <a:lstStyle/>
          <a:p>
            <a:pPr marL="342900" indent="-342900">
              <a:buFont typeface="Arial" panose="020B0604020202020204" pitchFamily="34" charset="0"/>
              <a:buChar char="•"/>
            </a:pPr>
            <a:r>
              <a:rPr lang="en-GB" sz="1700" dirty="0">
                <a:solidFill>
                  <a:schemeClr val="bg1"/>
                </a:solidFill>
                <a:latin typeface="PT Sans" panose="020B0503020203020204" pitchFamily="34" charset="77"/>
              </a:rPr>
              <a:t>Outdated legal base (Law No. 04/L-060, 2012, with focused amendments in 2022 and 2024 related to permits and harmonization with administrative procedures)</a:t>
            </a:r>
          </a:p>
          <a:p>
            <a:pPr marL="342900" indent="-342900">
              <a:buFont typeface="Arial" panose="020B0604020202020204" pitchFamily="34" charset="0"/>
              <a:buChar char="•"/>
            </a:pPr>
            <a:r>
              <a:rPr lang="en-GB" sz="1700" dirty="0">
                <a:solidFill>
                  <a:schemeClr val="bg1"/>
                </a:solidFill>
                <a:latin typeface="PT Sans" panose="020B0503020203020204" pitchFamily="34" charset="77"/>
              </a:rPr>
              <a:t>Weak provisions for Extended Producer Responsibility and Deposit Return System </a:t>
            </a:r>
          </a:p>
          <a:p>
            <a:pPr marL="342900" indent="-342900">
              <a:buFont typeface="Arial" panose="020B0604020202020204" pitchFamily="34" charset="0"/>
              <a:buChar char="•"/>
            </a:pPr>
            <a:r>
              <a:rPr lang="en-GB" sz="1700" dirty="0">
                <a:solidFill>
                  <a:schemeClr val="bg1"/>
                </a:solidFill>
                <a:latin typeface="PT Sans" panose="020B0503020203020204" pitchFamily="34" charset="77"/>
              </a:rPr>
              <a:t>Fragmented institutional roles</a:t>
            </a:r>
          </a:p>
          <a:p>
            <a:pPr marL="342900" indent="-342900">
              <a:buFont typeface="Arial" panose="020B0604020202020204" pitchFamily="34" charset="0"/>
              <a:buChar char="•"/>
            </a:pPr>
            <a:r>
              <a:rPr lang="en-GB" sz="1700" dirty="0">
                <a:solidFill>
                  <a:schemeClr val="bg1"/>
                </a:solidFill>
                <a:latin typeface="PT Sans" panose="020B0503020203020204" pitchFamily="34" charset="77"/>
              </a:rPr>
              <a:t>Lack of financial sustainability and data transparency</a:t>
            </a:r>
          </a:p>
          <a:p>
            <a:pPr marL="342900" indent="-342900">
              <a:buFont typeface="Arial" panose="020B0604020202020204" pitchFamily="34" charset="0"/>
              <a:buChar char="•"/>
            </a:pPr>
            <a:r>
              <a:rPr lang="en-GB" sz="1700" dirty="0">
                <a:solidFill>
                  <a:schemeClr val="bg1"/>
                </a:solidFill>
                <a:latin typeface="PT Sans" panose="020B0503020203020204" pitchFamily="34" charset="77"/>
              </a:rPr>
              <a:t>Heavy dependence on landfilling (≈90% of municipal waste)</a:t>
            </a:r>
          </a:p>
        </p:txBody>
      </p:sp>
      <p:sp>
        <p:nvSpPr>
          <p:cNvPr id="17" name="Rounded Rectangle 16">
            <a:extLst>
              <a:ext uri="{FF2B5EF4-FFF2-40B4-BE49-F238E27FC236}">
                <a16:creationId xmlns:a16="http://schemas.microsoft.com/office/drawing/2014/main" id="{6B9EA48E-D8BD-D4DD-A10E-E723B946D7D3}"/>
              </a:ext>
            </a:extLst>
          </p:cNvPr>
          <p:cNvSpPr/>
          <p:nvPr/>
        </p:nvSpPr>
        <p:spPr>
          <a:xfrm>
            <a:off x="6967279" y="2005264"/>
            <a:ext cx="4411582" cy="4447582"/>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0317380-5A18-2468-9FAA-DD754276DD4E}"/>
              </a:ext>
            </a:extLst>
          </p:cNvPr>
          <p:cNvSpPr txBox="1"/>
          <p:nvPr/>
        </p:nvSpPr>
        <p:spPr>
          <a:xfrm>
            <a:off x="7015407" y="2422358"/>
            <a:ext cx="4363453" cy="553998"/>
          </a:xfrm>
          <a:prstGeom prst="rect">
            <a:avLst/>
          </a:prstGeom>
          <a:noFill/>
        </p:spPr>
        <p:txBody>
          <a:bodyPr wrap="square" rtlCol="0">
            <a:spAutoFit/>
          </a:bodyPr>
          <a:lstStyle/>
          <a:p>
            <a:pPr algn="ctr"/>
            <a:r>
              <a:rPr lang="en-US" sz="3000" b="1" dirty="0">
                <a:solidFill>
                  <a:schemeClr val="bg1"/>
                </a:solidFill>
                <a:latin typeface="PT Sans" panose="020B0503020203020204" pitchFamily="34" charset="77"/>
              </a:rPr>
              <a:t>Policy &amp; Legal Context </a:t>
            </a:r>
          </a:p>
        </p:txBody>
      </p:sp>
      <p:sp>
        <p:nvSpPr>
          <p:cNvPr id="19" name="TextBox 18">
            <a:extLst>
              <a:ext uri="{FF2B5EF4-FFF2-40B4-BE49-F238E27FC236}">
                <a16:creationId xmlns:a16="http://schemas.microsoft.com/office/drawing/2014/main" id="{1AB9469E-E9DA-8F91-9DD4-9FD9B727ED73}"/>
              </a:ext>
            </a:extLst>
          </p:cNvPr>
          <p:cNvSpPr txBox="1"/>
          <p:nvPr/>
        </p:nvSpPr>
        <p:spPr>
          <a:xfrm>
            <a:off x="7310189" y="3183995"/>
            <a:ext cx="3844083" cy="2446824"/>
          </a:xfrm>
          <a:prstGeom prst="rect">
            <a:avLst/>
          </a:prstGeom>
          <a:noFill/>
        </p:spPr>
        <p:txBody>
          <a:bodyPr wrap="square" rtlCol="0">
            <a:spAutoFit/>
          </a:bodyPr>
          <a:lstStyle/>
          <a:p>
            <a:r>
              <a:rPr lang="en-GB" sz="1700" dirty="0">
                <a:solidFill>
                  <a:schemeClr val="bg1"/>
                </a:solidFill>
                <a:latin typeface="PT Sans" panose="020B0503020203020204" pitchFamily="34" charset="77"/>
              </a:rPr>
              <a:t>The Integrated Waste Management Strategy 2024–2035, approved by the Government in December 2024, together with the Concept Document on Integrated Waste Management Reform, endorsed in October 2024, provides a clear policy direction and framework for advancing waste sector reforms in Kosovo. </a:t>
            </a:r>
          </a:p>
        </p:txBody>
      </p:sp>
    </p:spTree>
    <p:extLst>
      <p:ext uri="{BB962C8B-B14F-4D97-AF65-F5344CB8AC3E}">
        <p14:creationId xmlns:p14="http://schemas.microsoft.com/office/powerpoint/2010/main" val="666390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4F3B9-57FF-F46F-14FA-9B2FB61B616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F28D375-7A79-E4CF-23FD-31E53B5ECBE4}"/>
              </a:ext>
            </a:extLst>
          </p:cNvPr>
          <p:cNvSpPr txBox="1"/>
          <p:nvPr/>
        </p:nvSpPr>
        <p:spPr>
          <a:xfrm>
            <a:off x="486270" y="417562"/>
            <a:ext cx="10996882" cy="1569660"/>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Core Principles and Institutions </a:t>
            </a:r>
            <a:br>
              <a:rPr lang="en-GB" sz="4800" b="1" noProof="0" dirty="0">
                <a:solidFill>
                  <a:srgbClr val="709F51"/>
                </a:solidFill>
                <a:latin typeface="PT Sans" panose="020B0503020203020204" pitchFamily="34" charset="77"/>
              </a:rPr>
            </a:br>
            <a:r>
              <a:rPr lang="en-GB" sz="4800" b="1" noProof="0" dirty="0">
                <a:solidFill>
                  <a:srgbClr val="709F51"/>
                </a:solidFill>
                <a:latin typeface="PT Sans" panose="020B0503020203020204" pitchFamily="34" charset="77"/>
              </a:rPr>
              <a:t>of the New Law</a:t>
            </a:r>
          </a:p>
        </p:txBody>
      </p:sp>
      <p:sp>
        <p:nvSpPr>
          <p:cNvPr id="3" name="Content Placeholder 2">
            <a:extLst>
              <a:ext uri="{FF2B5EF4-FFF2-40B4-BE49-F238E27FC236}">
                <a16:creationId xmlns:a16="http://schemas.microsoft.com/office/drawing/2014/main" id="{998012E5-159A-CDEC-039A-6FF963E30E17}"/>
              </a:ext>
            </a:extLst>
          </p:cNvPr>
          <p:cNvSpPr txBox="1">
            <a:spLocks/>
          </p:cNvSpPr>
          <p:nvPr/>
        </p:nvSpPr>
        <p:spPr>
          <a:xfrm>
            <a:off x="980580" y="2337677"/>
            <a:ext cx="10502572" cy="392429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GB" sz="2000" noProof="0" dirty="0">
                <a:solidFill>
                  <a:schemeClr val="tx1"/>
                </a:solidFill>
                <a:latin typeface="PT Sans" panose="020B0503020203020204" pitchFamily="34" charset="77"/>
              </a:rPr>
              <a:t>Waste hierarchy: Prevention → Reuse → Recycling → Recovery → Disposal</a:t>
            </a:r>
            <a:br>
              <a:rPr lang="en-GB" sz="2000" noProof="0" dirty="0">
                <a:solidFill>
                  <a:schemeClr val="tx1"/>
                </a:solidFill>
                <a:latin typeface="PT Sans" panose="020B0503020203020204" pitchFamily="34" charset="77"/>
              </a:rPr>
            </a:br>
            <a:endParaRPr lang="en-GB" sz="20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000" noProof="0" dirty="0">
                <a:solidFill>
                  <a:schemeClr val="tx1"/>
                </a:solidFill>
                <a:latin typeface="PT Sans" panose="020B0503020203020204" pitchFamily="34" charset="77"/>
              </a:rPr>
              <a:t>Polluter Pays Principle (PPP) – producers, companies and households take financial responsibility for managing the waste they create</a:t>
            </a:r>
            <a:br>
              <a:rPr lang="en-GB" sz="2000" noProof="0" dirty="0">
                <a:solidFill>
                  <a:schemeClr val="tx1"/>
                </a:solidFill>
                <a:latin typeface="PT Sans" panose="020B0503020203020204" pitchFamily="34" charset="77"/>
              </a:rPr>
            </a:br>
            <a:endParaRPr lang="en-GB" sz="20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000" noProof="0" dirty="0">
                <a:solidFill>
                  <a:schemeClr val="tx1"/>
                </a:solidFill>
                <a:latin typeface="PT Sans" panose="020B0503020203020204" pitchFamily="34" charset="77"/>
              </a:rPr>
              <a:t>Full Net Cost Coverage (FNCC) – collection, transport, recycling and treatment to be covered by the fees paid by users or producers</a:t>
            </a:r>
            <a:br>
              <a:rPr lang="en-GB" sz="2000" noProof="0" dirty="0">
                <a:solidFill>
                  <a:schemeClr val="tx1"/>
                </a:solidFill>
                <a:latin typeface="PT Sans" panose="020B0503020203020204" pitchFamily="34" charset="77"/>
              </a:rPr>
            </a:br>
            <a:endParaRPr lang="en-GB" sz="20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000" noProof="0" dirty="0">
                <a:solidFill>
                  <a:schemeClr val="tx1"/>
                </a:solidFill>
                <a:latin typeface="PT Sans" panose="020B0503020203020204" pitchFamily="34" charset="77"/>
              </a:rPr>
              <a:t>Transparency and accountability – all institutions and parties report clearly on what they collect, recycle or dispose</a:t>
            </a:r>
            <a:br>
              <a:rPr lang="en-GB" sz="2000" noProof="0" dirty="0">
                <a:solidFill>
                  <a:schemeClr val="tx1"/>
                </a:solidFill>
                <a:latin typeface="PT Sans" panose="020B0503020203020204" pitchFamily="34" charset="77"/>
              </a:rPr>
            </a:br>
            <a:endParaRPr lang="en-GB" sz="20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000" noProof="0" dirty="0">
                <a:solidFill>
                  <a:schemeClr val="tx1"/>
                </a:solidFill>
                <a:latin typeface="PT Sans" panose="020B0503020203020204" pitchFamily="34" charset="77"/>
              </a:rPr>
              <a:t>Recycling targets of the Strategy must be achieved</a:t>
            </a:r>
            <a:br>
              <a:rPr lang="en-GB" sz="2000" noProof="0" dirty="0">
                <a:solidFill>
                  <a:schemeClr val="tx1"/>
                </a:solidFill>
                <a:latin typeface="PT Sans" panose="020B0503020203020204" pitchFamily="34" charset="77"/>
              </a:rPr>
            </a:br>
            <a:endParaRPr lang="en-GB" sz="2000" noProof="0" dirty="0">
              <a:solidFill>
                <a:schemeClr val="tx1"/>
              </a:solidFill>
              <a:latin typeface="PT Sans" panose="020B0503020203020204" pitchFamily="34" charset="77"/>
            </a:endParaRPr>
          </a:p>
        </p:txBody>
      </p:sp>
    </p:spTree>
    <p:extLst>
      <p:ext uri="{BB962C8B-B14F-4D97-AF65-F5344CB8AC3E}">
        <p14:creationId xmlns:p14="http://schemas.microsoft.com/office/powerpoint/2010/main" val="4127678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57D86-9A9C-2974-7848-D07D5901EC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1EFEE48-C3E4-1C15-8BEA-B5C3F927999D}"/>
              </a:ext>
            </a:extLst>
          </p:cNvPr>
          <p:cNvSpPr txBox="1"/>
          <p:nvPr/>
        </p:nvSpPr>
        <p:spPr>
          <a:xfrm>
            <a:off x="486270" y="417562"/>
            <a:ext cx="10996882" cy="1569660"/>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Core Principles and Institutions </a:t>
            </a:r>
            <a:br>
              <a:rPr lang="en-GB" sz="4800" b="1" noProof="0" dirty="0">
                <a:solidFill>
                  <a:srgbClr val="709F51"/>
                </a:solidFill>
                <a:latin typeface="PT Sans" panose="020B0503020203020204" pitchFamily="34" charset="77"/>
              </a:rPr>
            </a:br>
            <a:r>
              <a:rPr lang="en-GB" sz="4800" b="1" noProof="0" dirty="0">
                <a:solidFill>
                  <a:srgbClr val="709F51"/>
                </a:solidFill>
                <a:latin typeface="PT Sans" panose="020B0503020203020204" pitchFamily="34" charset="77"/>
              </a:rPr>
              <a:t>of the New Law </a:t>
            </a:r>
          </a:p>
        </p:txBody>
      </p:sp>
      <p:sp>
        <p:nvSpPr>
          <p:cNvPr id="3" name="Content Placeholder 2">
            <a:extLst>
              <a:ext uri="{FF2B5EF4-FFF2-40B4-BE49-F238E27FC236}">
                <a16:creationId xmlns:a16="http://schemas.microsoft.com/office/drawing/2014/main" id="{F65BC36D-F460-DB88-DA09-3540A5C842AD}"/>
              </a:ext>
            </a:extLst>
          </p:cNvPr>
          <p:cNvSpPr txBox="1">
            <a:spLocks/>
          </p:cNvSpPr>
          <p:nvPr/>
        </p:nvSpPr>
        <p:spPr>
          <a:xfrm>
            <a:off x="957008" y="2163685"/>
            <a:ext cx="10277983" cy="392429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GB" sz="2000" dirty="0">
                <a:solidFill>
                  <a:schemeClr val="tx1"/>
                </a:solidFill>
                <a:latin typeface="PT Sans" panose="020B0503020203020204" pitchFamily="34" charset="77"/>
              </a:rPr>
              <a:t>Extended Producer Responsibility Schemes &amp; Deposit Refund System are enshrined in the law</a:t>
            </a:r>
            <a:br>
              <a:rPr lang="en-GB" sz="2000" dirty="0">
                <a:solidFill>
                  <a:schemeClr val="tx1"/>
                </a:solidFill>
                <a:latin typeface="PT Sans" panose="020B0503020203020204" pitchFamily="34" charset="77"/>
              </a:rPr>
            </a:br>
            <a:endParaRPr lang="en-GB" sz="200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000" dirty="0">
                <a:solidFill>
                  <a:schemeClr val="tx1"/>
                </a:solidFill>
                <a:latin typeface="PT Sans" panose="020B0503020203020204" pitchFamily="34" charset="77"/>
              </a:rPr>
              <a:t>Inter-municipal Cooperation and definition of five Waste Management Zones are integrated in the law, alongside checks and balances enabling sanctions or government intervention when services fail</a:t>
            </a:r>
            <a:br>
              <a:rPr lang="en-GB" sz="2000" dirty="0">
                <a:solidFill>
                  <a:schemeClr val="tx1"/>
                </a:solidFill>
                <a:latin typeface="PT Sans" panose="020B0503020203020204" pitchFamily="34" charset="77"/>
              </a:rPr>
            </a:br>
            <a:endParaRPr lang="en-GB" sz="200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000" dirty="0">
                <a:solidFill>
                  <a:schemeClr val="tx1"/>
                </a:solidFill>
                <a:latin typeface="PT Sans" panose="020B0503020203020204" pitchFamily="34" charset="77"/>
              </a:rPr>
              <a:t>A Regulator will oversee tariff setting, performance monitoring and dispute resolution </a:t>
            </a:r>
            <a:br>
              <a:rPr lang="en-GB" sz="2000" dirty="0">
                <a:solidFill>
                  <a:schemeClr val="tx1"/>
                </a:solidFill>
                <a:latin typeface="PT Sans" panose="020B0503020203020204" pitchFamily="34" charset="77"/>
              </a:rPr>
            </a:br>
            <a:endParaRPr lang="en-GB" sz="200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000" dirty="0">
                <a:solidFill>
                  <a:schemeClr val="tx1"/>
                </a:solidFill>
                <a:latin typeface="PT Sans" panose="020B0503020203020204" pitchFamily="34" charset="77"/>
              </a:rPr>
              <a:t>The role of KLMC will be strengthened in the law to operate landfills and treatment facilities, including future regional sorting and treatment </a:t>
            </a:r>
            <a:r>
              <a:rPr lang="en-GB" sz="2000" dirty="0" err="1">
                <a:solidFill>
                  <a:schemeClr val="tx1"/>
                </a:solidFill>
                <a:latin typeface="PT Sans" panose="020B0503020203020204" pitchFamily="34" charset="77"/>
              </a:rPr>
              <a:t>centers</a:t>
            </a:r>
            <a:endParaRPr lang="en-GB" sz="2000" dirty="0">
              <a:solidFill>
                <a:schemeClr val="tx1"/>
              </a:solidFill>
              <a:latin typeface="PT Sans" panose="020B0503020203020204" pitchFamily="34" charset="77"/>
            </a:endParaRPr>
          </a:p>
        </p:txBody>
      </p:sp>
    </p:spTree>
    <p:extLst>
      <p:ext uri="{BB962C8B-B14F-4D97-AF65-F5344CB8AC3E}">
        <p14:creationId xmlns:p14="http://schemas.microsoft.com/office/powerpoint/2010/main" val="2628287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97F38-2CF3-0531-7499-DC40D03E97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6EA802F-2849-D9A9-CAEC-162E7B15DE54}"/>
              </a:ext>
            </a:extLst>
          </p:cNvPr>
          <p:cNvSpPr txBox="1"/>
          <p:nvPr/>
        </p:nvSpPr>
        <p:spPr>
          <a:xfrm>
            <a:off x="486269" y="364462"/>
            <a:ext cx="11284817" cy="1569660"/>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Extended Producer Responsibility Scheme &amp; Deposit Refund System</a:t>
            </a:r>
          </a:p>
        </p:txBody>
      </p:sp>
      <p:sp>
        <p:nvSpPr>
          <p:cNvPr id="3" name="Content Placeholder 2">
            <a:extLst>
              <a:ext uri="{FF2B5EF4-FFF2-40B4-BE49-F238E27FC236}">
                <a16:creationId xmlns:a16="http://schemas.microsoft.com/office/drawing/2014/main" id="{250358B1-A2E4-AB12-94C8-B393C48BAFB7}"/>
              </a:ext>
            </a:extLst>
          </p:cNvPr>
          <p:cNvSpPr txBox="1">
            <a:spLocks/>
          </p:cNvSpPr>
          <p:nvPr/>
        </p:nvSpPr>
        <p:spPr>
          <a:xfrm>
            <a:off x="731837" y="2257299"/>
            <a:ext cx="10404253" cy="33005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GB" sz="1800" noProof="0" dirty="0">
                <a:solidFill>
                  <a:schemeClr val="tx1"/>
                </a:solidFill>
                <a:latin typeface="PT Sans" panose="020B0503020203020204" pitchFamily="34" charset="77"/>
              </a:rPr>
              <a:t>The new law introduces a strong legal basis for </a:t>
            </a:r>
            <a:r>
              <a:rPr lang="en-GB" sz="1800" b="1" noProof="0" dirty="0">
                <a:solidFill>
                  <a:schemeClr val="tx1"/>
                </a:solidFill>
                <a:latin typeface="PT Sans" panose="020B0503020203020204" pitchFamily="34" charset="77"/>
              </a:rPr>
              <a:t>Extended Producer Responsibility (EPR) schemes</a:t>
            </a:r>
            <a:r>
              <a:rPr lang="en-GB" sz="1800" noProof="0" dirty="0">
                <a:solidFill>
                  <a:schemeClr val="tx1"/>
                </a:solidFill>
                <a:latin typeface="PT Sans" panose="020B0503020203020204" pitchFamily="34" charset="77"/>
              </a:rPr>
              <a:t>, covering Packaging; WEEE (electronic waste); Batteries; End-of-life vehicles (ELV); Tyres and other waste streams</a:t>
            </a:r>
            <a:br>
              <a:rPr lang="en-GB" sz="1800" noProof="0" dirty="0">
                <a:solidFill>
                  <a:schemeClr val="tx1"/>
                </a:solidFill>
                <a:latin typeface="PT Sans" panose="020B0503020203020204" pitchFamily="34" charset="77"/>
              </a:rPr>
            </a:br>
            <a:endParaRPr lang="en-GB" sz="18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1800" noProof="0" dirty="0">
                <a:solidFill>
                  <a:schemeClr val="tx1"/>
                </a:solidFill>
                <a:latin typeface="PT Sans" panose="020B0503020203020204" pitchFamily="34" charset="77"/>
              </a:rPr>
              <a:t>It also establishes a strong legal basis for </a:t>
            </a:r>
            <a:r>
              <a:rPr lang="en-GB" sz="1800" b="1" noProof="0" dirty="0">
                <a:solidFill>
                  <a:schemeClr val="tx1"/>
                </a:solidFill>
                <a:latin typeface="PT Sans" panose="020B0503020203020204" pitchFamily="34" charset="77"/>
              </a:rPr>
              <a:t>Deposit Refund System (DRS)</a:t>
            </a:r>
            <a:r>
              <a:rPr lang="en-GB" sz="1800" noProof="0" dirty="0">
                <a:solidFill>
                  <a:schemeClr val="tx1"/>
                </a:solidFill>
                <a:latin typeface="PT Sans" panose="020B0503020203020204" pitchFamily="34" charset="77"/>
              </a:rPr>
              <a:t> for plastic, glass and </a:t>
            </a:r>
            <a:r>
              <a:rPr lang="en-GB" sz="1800" noProof="0" dirty="0" err="1">
                <a:solidFill>
                  <a:schemeClr val="tx1"/>
                </a:solidFill>
                <a:latin typeface="PT Sans" panose="020B0503020203020204" pitchFamily="34" charset="77"/>
              </a:rPr>
              <a:t>aluminum</a:t>
            </a:r>
            <a:r>
              <a:rPr lang="en-GB" sz="1800" noProof="0" dirty="0">
                <a:solidFill>
                  <a:schemeClr val="tx1"/>
                </a:solidFill>
                <a:latin typeface="PT Sans" panose="020B0503020203020204" pitchFamily="34" charset="77"/>
              </a:rPr>
              <a:t> bottles (ranging from 0.15 to 2 </a:t>
            </a:r>
            <a:r>
              <a:rPr lang="en-GB" sz="1800" noProof="0" dirty="0" err="1">
                <a:solidFill>
                  <a:schemeClr val="tx1"/>
                </a:solidFill>
                <a:latin typeface="PT Sans" panose="020B0503020203020204" pitchFamily="34" charset="77"/>
              </a:rPr>
              <a:t>liters</a:t>
            </a:r>
            <a:r>
              <a:rPr lang="en-GB" sz="1800" noProof="0" dirty="0">
                <a:solidFill>
                  <a:schemeClr val="tx1"/>
                </a:solidFill>
                <a:latin typeface="PT Sans" panose="020B0503020203020204" pitchFamily="34" charset="77"/>
              </a:rPr>
              <a:t>) to increase collection and recycling rates and reduce littering nationwide. </a:t>
            </a:r>
            <a:br>
              <a:rPr lang="en-GB" sz="1800" noProof="0" dirty="0">
                <a:solidFill>
                  <a:schemeClr val="tx1"/>
                </a:solidFill>
                <a:latin typeface="PT Sans" panose="020B0503020203020204" pitchFamily="34" charset="77"/>
              </a:rPr>
            </a:br>
            <a:endParaRPr lang="en-GB" sz="18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1800" noProof="0" dirty="0">
                <a:solidFill>
                  <a:schemeClr val="tx1"/>
                </a:solidFill>
                <a:latin typeface="PT Sans" panose="020B0503020203020204" pitchFamily="34" charset="77"/>
              </a:rPr>
              <a:t>Sets: </a:t>
            </a:r>
          </a:p>
          <a:p>
            <a:pPr marL="857250" lvl="1" indent="-400050">
              <a:buFont typeface="+mj-lt"/>
              <a:buAutoNum type="romanLcPeriod"/>
            </a:pPr>
            <a:r>
              <a:rPr lang="en-GB" noProof="0" dirty="0">
                <a:latin typeface="PT Sans" panose="020B0503020203020204" pitchFamily="34" charset="77"/>
              </a:rPr>
              <a:t>Clear roles for producers, Producer Responsibility Organizations, municipalities, and recyclers</a:t>
            </a:r>
          </a:p>
          <a:p>
            <a:pPr marL="857250" lvl="1" indent="-400050">
              <a:buFont typeface="+mj-lt"/>
              <a:buAutoNum type="romanLcPeriod"/>
            </a:pPr>
            <a:r>
              <a:rPr lang="en-GB" noProof="0" dirty="0">
                <a:latin typeface="PT Sans" panose="020B0503020203020204" pitchFamily="34" charset="77"/>
              </a:rPr>
              <a:t>Transparent data reporting and performance monitoring</a:t>
            </a:r>
          </a:p>
        </p:txBody>
      </p:sp>
      <p:sp>
        <p:nvSpPr>
          <p:cNvPr id="21" name="Rectangle 20">
            <a:extLst>
              <a:ext uri="{FF2B5EF4-FFF2-40B4-BE49-F238E27FC236}">
                <a16:creationId xmlns:a16="http://schemas.microsoft.com/office/drawing/2014/main" id="{15A0D29D-79DB-5180-C40F-5D62C997B4FE}"/>
              </a:ext>
            </a:extLst>
          </p:cNvPr>
          <p:cNvSpPr/>
          <p:nvPr/>
        </p:nvSpPr>
        <p:spPr>
          <a:xfrm>
            <a:off x="7242829" y="6040639"/>
            <a:ext cx="4123234" cy="10552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riangle 21">
            <a:extLst>
              <a:ext uri="{FF2B5EF4-FFF2-40B4-BE49-F238E27FC236}">
                <a16:creationId xmlns:a16="http://schemas.microsoft.com/office/drawing/2014/main" id="{27B47D91-A4B8-6E8C-91C3-0D7FD4202CDE}"/>
              </a:ext>
            </a:extLst>
          </p:cNvPr>
          <p:cNvSpPr/>
          <p:nvPr/>
        </p:nvSpPr>
        <p:spPr>
          <a:xfrm rot="5400000">
            <a:off x="11367283" y="5972562"/>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23450FA3-EEF0-22A7-7174-DBE160E0C127}"/>
              </a:ext>
            </a:extLst>
          </p:cNvPr>
          <p:cNvSpPr/>
          <p:nvPr/>
        </p:nvSpPr>
        <p:spPr>
          <a:xfrm>
            <a:off x="8930622" y="5591317"/>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2026</a:t>
            </a:r>
            <a:endParaRPr lang="en-GB" sz="700" b="1" noProof="0" dirty="0">
              <a:solidFill>
                <a:schemeClr val="tx2"/>
              </a:solidFill>
              <a:latin typeface="PT Sans" panose="020B0503020203020204" pitchFamily="34" charset="77"/>
            </a:endParaRPr>
          </a:p>
        </p:txBody>
      </p:sp>
      <p:sp>
        <p:nvSpPr>
          <p:cNvPr id="25" name="Oval 24">
            <a:extLst>
              <a:ext uri="{FF2B5EF4-FFF2-40B4-BE49-F238E27FC236}">
                <a16:creationId xmlns:a16="http://schemas.microsoft.com/office/drawing/2014/main" id="{77EFE5FB-84A1-5731-70D7-BDE8C6511887}"/>
              </a:ext>
            </a:extLst>
          </p:cNvPr>
          <p:cNvSpPr/>
          <p:nvPr/>
        </p:nvSpPr>
        <p:spPr>
          <a:xfrm>
            <a:off x="10134851" y="5591317"/>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2027</a:t>
            </a:r>
            <a:endParaRPr lang="en-GB" sz="700" b="1" noProof="0" dirty="0">
              <a:solidFill>
                <a:schemeClr val="tx2"/>
              </a:solidFill>
              <a:latin typeface="PT Sans" panose="020B0503020203020204" pitchFamily="34" charset="77"/>
            </a:endParaRPr>
          </a:p>
        </p:txBody>
      </p:sp>
      <p:sp>
        <p:nvSpPr>
          <p:cNvPr id="27" name="Oval 26">
            <a:extLst>
              <a:ext uri="{FF2B5EF4-FFF2-40B4-BE49-F238E27FC236}">
                <a16:creationId xmlns:a16="http://schemas.microsoft.com/office/drawing/2014/main" id="{28912C5E-5D9E-F765-3EC1-BD59FD1B16FC}"/>
              </a:ext>
            </a:extLst>
          </p:cNvPr>
          <p:cNvSpPr/>
          <p:nvPr/>
        </p:nvSpPr>
        <p:spPr>
          <a:xfrm>
            <a:off x="7663804" y="5591317"/>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2023</a:t>
            </a:r>
            <a:endParaRPr lang="en-GB" sz="700" b="1" noProof="0" dirty="0">
              <a:solidFill>
                <a:schemeClr val="tx2"/>
              </a:solidFill>
              <a:latin typeface="PT Sans" panose="020B0503020203020204" pitchFamily="34" charset="77"/>
            </a:endParaRPr>
          </a:p>
        </p:txBody>
      </p:sp>
    </p:spTree>
    <p:extLst>
      <p:ext uri="{BB962C8B-B14F-4D97-AF65-F5344CB8AC3E}">
        <p14:creationId xmlns:p14="http://schemas.microsoft.com/office/powerpoint/2010/main" val="801814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B1D31-6628-EA7E-FFCF-7168700F2A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88ABD71-9CCD-7AA8-1ED3-321FC5577358}"/>
              </a:ext>
            </a:extLst>
          </p:cNvPr>
          <p:cNvSpPr txBox="1"/>
          <p:nvPr/>
        </p:nvSpPr>
        <p:spPr>
          <a:xfrm>
            <a:off x="486269" y="364462"/>
            <a:ext cx="11284817" cy="1569660"/>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Extended Producer Responsibility Scheme &amp; Deposit Refund System</a:t>
            </a:r>
          </a:p>
        </p:txBody>
      </p:sp>
      <p:sp>
        <p:nvSpPr>
          <p:cNvPr id="17" name="Rectangle: Rounded Corners 10">
            <a:extLst>
              <a:ext uri="{FF2B5EF4-FFF2-40B4-BE49-F238E27FC236}">
                <a16:creationId xmlns:a16="http://schemas.microsoft.com/office/drawing/2014/main" id="{36B9AC36-F492-CEDB-169E-1F13DB5EEA54}"/>
              </a:ext>
            </a:extLst>
          </p:cNvPr>
          <p:cNvSpPr/>
          <p:nvPr/>
        </p:nvSpPr>
        <p:spPr>
          <a:xfrm>
            <a:off x="930512" y="4306939"/>
            <a:ext cx="1577553" cy="1899999"/>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PT Sans" panose="020B0503020203020204" pitchFamily="34" charset="77"/>
              </a:rPr>
              <a:t>EPR Assessments for WEE, Batteries, ELVs, Oils</a:t>
            </a:r>
          </a:p>
        </p:txBody>
      </p:sp>
      <p:sp>
        <p:nvSpPr>
          <p:cNvPr id="3" name="Rectangle 2">
            <a:extLst>
              <a:ext uri="{FF2B5EF4-FFF2-40B4-BE49-F238E27FC236}">
                <a16:creationId xmlns:a16="http://schemas.microsoft.com/office/drawing/2014/main" id="{18F930B2-424D-6C08-362E-7746071C5F07}"/>
              </a:ext>
            </a:extLst>
          </p:cNvPr>
          <p:cNvSpPr/>
          <p:nvPr/>
        </p:nvSpPr>
        <p:spPr>
          <a:xfrm>
            <a:off x="700541" y="3429000"/>
            <a:ext cx="10404255" cy="1074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0B936D36-F5A2-CC87-FCD4-0B34F42E21AA}"/>
              </a:ext>
            </a:extLst>
          </p:cNvPr>
          <p:cNvSpPr/>
          <p:nvPr/>
        </p:nvSpPr>
        <p:spPr>
          <a:xfrm rot="5400000">
            <a:off x="11106015" y="3367718"/>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1AE1696-794F-B02D-E107-AB500D4BE773}"/>
              </a:ext>
            </a:extLst>
          </p:cNvPr>
          <p:cNvSpPr/>
          <p:nvPr/>
        </p:nvSpPr>
        <p:spPr>
          <a:xfrm>
            <a:off x="5595380" y="2924542"/>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2026</a:t>
            </a:r>
            <a:endParaRPr lang="en-GB" sz="700" b="1" noProof="0" dirty="0">
              <a:solidFill>
                <a:schemeClr val="tx2"/>
              </a:solidFill>
              <a:latin typeface="PT Sans" panose="020B0503020203020204" pitchFamily="34" charset="77"/>
            </a:endParaRPr>
          </a:p>
        </p:txBody>
      </p:sp>
      <p:sp>
        <p:nvSpPr>
          <p:cNvPr id="11" name="Oval 10">
            <a:extLst>
              <a:ext uri="{FF2B5EF4-FFF2-40B4-BE49-F238E27FC236}">
                <a16:creationId xmlns:a16="http://schemas.microsoft.com/office/drawing/2014/main" id="{15C33FC9-4889-2258-2383-D39A46732FEC}"/>
              </a:ext>
            </a:extLst>
          </p:cNvPr>
          <p:cNvSpPr/>
          <p:nvPr/>
        </p:nvSpPr>
        <p:spPr>
          <a:xfrm>
            <a:off x="930512" y="2644170"/>
            <a:ext cx="1577553" cy="156966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noProof="0" dirty="0">
                <a:solidFill>
                  <a:schemeClr val="tx2"/>
                </a:solidFill>
                <a:latin typeface="PT Sans" panose="020B0503020203020204" pitchFamily="34" charset="77"/>
              </a:rPr>
              <a:t>2023</a:t>
            </a:r>
            <a:endParaRPr lang="en-GB" sz="700" b="1" noProof="0" dirty="0">
              <a:solidFill>
                <a:schemeClr val="tx2"/>
              </a:solidFill>
              <a:latin typeface="PT Sans" panose="020B0503020203020204" pitchFamily="34" charset="77"/>
            </a:endParaRPr>
          </a:p>
        </p:txBody>
      </p:sp>
      <p:sp>
        <p:nvSpPr>
          <p:cNvPr id="12" name="Oval 11">
            <a:extLst>
              <a:ext uri="{FF2B5EF4-FFF2-40B4-BE49-F238E27FC236}">
                <a16:creationId xmlns:a16="http://schemas.microsoft.com/office/drawing/2014/main" id="{5B795DC7-0D2C-65A2-5607-F078CEC8A438}"/>
              </a:ext>
            </a:extLst>
          </p:cNvPr>
          <p:cNvSpPr/>
          <p:nvPr/>
        </p:nvSpPr>
        <p:spPr>
          <a:xfrm>
            <a:off x="9837976"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2027</a:t>
            </a:r>
            <a:endParaRPr lang="en-GB" sz="700" b="1" noProof="0" dirty="0">
              <a:solidFill>
                <a:schemeClr val="tx2"/>
              </a:solidFill>
              <a:latin typeface="PT Sans" panose="020B0503020203020204" pitchFamily="34" charset="77"/>
            </a:endParaRPr>
          </a:p>
        </p:txBody>
      </p:sp>
    </p:spTree>
    <p:extLst>
      <p:ext uri="{BB962C8B-B14F-4D97-AF65-F5344CB8AC3E}">
        <p14:creationId xmlns:p14="http://schemas.microsoft.com/office/powerpoint/2010/main" val="31017100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62FD2-0B86-05FD-9015-0416F6110B0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B5414AB-B1EF-450F-D28C-3DC76179C7A8}"/>
              </a:ext>
            </a:extLst>
          </p:cNvPr>
          <p:cNvSpPr/>
          <p:nvPr/>
        </p:nvSpPr>
        <p:spPr>
          <a:xfrm>
            <a:off x="700541" y="3429000"/>
            <a:ext cx="10404255" cy="107409"/>
          </a:xfrm>
          <a:prstGeom prst="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ADA1B68F-8E9C-3C95-0C1C-35DC17CBFDD8}"/>
              </a:ext>
            </a:extLst>
          </p:cNvPr>
          <p:cNvSpPr/>
          <p:nvPr/>
        </p:nvSpPr>
        <p:spPr>
          <a:xfrm rot="5400000">
            <a:off x="11106015" y="3367718"/>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3C693AF-B1D3-8EB1-5FED-C423F46BAEB5}"/>
              </a:ext>
            </a:extLst>
          </p:cNvPr>
          <p:cNvSpPr txBox="1"/>
          <p:nvPr/>
        </p:nvSpPr>
        <p:spPr>
          <a:xfrm>
            <a:off x="486269" y="364462"/>
            <a:ext cx="11284817" cy="1569660"/>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Extended Producer Responsibility Scheme &amp; Deposit Refund System</a:t>
            </a:r>
          </a:p>
        </p:txBody>
      </p:sp>
      <p:sp>
        <p:nvSpPr>
          <p:cNvPr id="14" name="Oval 13">
            <a:extLst>
              <a:ext uri="{FF2B5EF4-FFF2-40B4-BE49-F238E27FC236}">
                <a16:creationId xmlns:a16="http://schemas.microsoft.com/office/drawing/2014/main" id="{A0D4E99A-AE87-AC5D-2FB1-8D932719BB37}"/>
              </a:ext>
            </a:extLst>
          </p:cNvPr>
          <p:cNvSpPr/>
          <p:nvPr/>
        </p:nvSpPr>
        <p:spPr>
          <a:xfrm>
            <a:off x="1204407" y="2971097"/>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2023</a:t>
            </a:r>
            <a:endParaRPr lang="en-GB" sz="700" b="1" noProof="0" dirty="0">
              <a:solidFill>
                <a:schemeClr val="tx2"/>
              </a:solidFill>
              <a:latin typeface="PT Sans" panose="020B0503020203020204" pitchFamily="34" charset="77"/>
            </a:endParaRPr>
          </a:p>
        </p:txBody>
      </p:sp>
      <p:sp>
        <p:nvSpPr>
          <p:cNvPr id="17" name="Rectangle: Rounded Corners 10">
            <a:extLst>
              <a:ext uri="{FF2B5EF4-FFF2-40B4-BE49-F238E27FC236}">
                <a16:creationId xmlns:a16="http://schemas.microsoft.com/office/drawing/2014/main" id="{BDA02FD1-D4AC-A1FD-DE69-2CE1452D2283}"/>
              </a:ext>
            </a:extLst>
          </p:cNvPr>
          <p:cNvSpPr/>
          <p:nvPr/>
        </p:nvSpPr>
        <p:spPr>
          <a:xfrm>
            <a:off x="930512" y="43069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PT Sans" panose="020B0503020203020204" pitchFamily="34" charset="77"/>
              </a:rPr>
              <a:t>EPR Assessments for WEE, Batteries, ELVs, Oils</a:t>
            </a:r>
          </a:p>
        </p:txBody>
      </p:sp>
      <p:sp>
        <p:nvSpPr>
          <p:cNvPr id="5" name="Rectangle: Rounded Corners 10">
            <a:extLst>
              <a:ext uri="{FF2B5EF4-FFF2-40B4-BE49-F238E27FC236}">
                <a16:creationId xmlns:a16="http://schemas.microsoft.com/office/drawing/2014/main" id="{13DD5FC4-CBA6-A9AB-06B8-8C4D0E7AE81F}"/>
              </a:ext>
            </a:extLst>
          </p:cNvPr>
          <p:cNvSpPr/>
          <p:nvPr/>
        </p:nvSpPr>
        <p:spPr>
          <a:xfrm>
            <a:off x="4460916" y="4306940"/>
            <a:ext cx="1577553" cy="1899999"/>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PT Sans" panose="020B0503020203020204" pitchFamily="34" charset="77"/>
              </a:rPr>
              <a:t>Legal base for EPR introduced into the New Law on Integrated Waste Management</a:t>
            </a:r>
          </a:p>
        </p:txBody>
      </p:sp>
      <p:sp>
        <p:nvSpPr>
          <p:cNvPr id="6" name="Rectangle: Rounded Corners 10">
            <a:extLst>
              <a:ext uri="{FF2B5EF4-FFF2-40B4-BE49-F238E27FC236}">
                <a16:creationId xmlns:a16="http://schemas.microsoft.com/office/drawing/2014/main" id="{609340B5-2829-EF87-6641-711EC09A2318}"/>
              </a:ext>
            </a:extLst>
          </p:cNvPr>
          <p:cNvSpPr/>
          <p:nvPr/>
        </p:nvSpPr>
        <p:spPr>
          <a:xfrm>
            <a:off x="6153532" y="4306940"/>
            <a:ext cx="1577553" cy="1899999"/>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PT Sans" panose="020B0503020203020204" pitchFamily="34" charset="77"/>
              </a:rPr>
              <a:t>EPR assessments for Tires and Packaging </a:t>
            </a:r>
          </a:p>
          <a:p>
            <a:endParaRPr lang="en-US" sz="1400" dirty="0">
              <a:latin typeface="PT Sans" panose="020B0503020203020204" pitchFamily="34" charset="77"/>
            </a:endParaRPr>
          </a:p>
        </p:txBody>
      </p:sp>
      <p:sp>
        <p:nvSpPr>
          <p:cNvPr id="11" name="Oval 10">
            <a:extLst>
              <a:ext uri="{FF2B5EF4-FFF2-40B4-BE49-F238E27FC236}">
                <a16:creationId xmlns:a16="http://schemas.microsoft.com/office/drawing/2014/main" id="{5B923017-434F-28E5-84D7-40EE67C86C46}"/>
              </a:ext>
            </a:extLst>
          </p:cNvPr>
          <p:cNvSpPr/>
          <p:nvPr/>
        </p:nvSpPr>
        <p:spPr>
          <a:xfrm>
            <a:off x="5249692" y="2644170"/>
            <a:ext cx="1577553" cy="156966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noProof="0" dirty="0">
                <a:solidFill>
                  <a:schemeClr val="tx2"/>
                </a:solidFill>
                <a:latin typeface="PT Sans" panose="020B0503020203020204" pitchFamily="34" charset="77"/>
              </a:rPr>
              <a:t>2026</a:t>
            </a:r>
          </a:p>
        </p:txBody>
      </p:sp>
      <p:sp>
        <p:nvSpPr>
          <p:cNvPr id="12" name="Oval 11">
            <a:extLst>
              <a:ext uri="{FF2B5EF4-FFF2-40B4-BE49-F238E27FC236}">
                <a16:creationId xmlns:a16="http://schemas.microsoft.com/office/drawing/2014/main" id="{2BBDEA70-AC2A-F695-3A66-63E889064FC1}"/>
              </a:ext>
            </a:extLst>
          </p:cNvPr>
          <p:cNvSpPr/>
          <p:nvPr/>
        </p:nvSpPr>
        <p:spPr>
          <a:xfrm>
            <a:off x="9871291"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2027</a:t>
            </a:r>
            <a:endParaRPr lang="en-GB" sz="700" b="1" noProof="0" dirty="0">
              <a:solidFill>
                <a:schemeClr val="tx2"/>
              </a:solidFill>
              <a:latin typeface="PT Sans" panose="020B0503020203020204" pitchFamily="34" charset="77"/>
            </a:endParaRPr>
          </a:p>
        </p:txBody>
      </p:sp>
    </p:spTree>
    <p:extLst>
      <p:ext uri="{BB962C8B-B14F-4D97-AF65-F5344CB8AC3E}">
        <p14:creationId xmlns:p14="http://schemas.microsoft.com/office/powerpoint/2010/main" val="3267606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DC13F-A163-B074-41DC-EDBDCCA7706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3E267CB-6198-68F9-633B-BD6B6AEB925A}"/>
              </a:ext>
            </a:extLst>
          </p:cNvPr>
          <p:cNvSpPr/>
          <p:nvPr/>
        </p:nvSpPr>
        <p:spPr>
          <a:xfrm>
            <a:off x="700541" y="3429000"/>
            <a:ext cx="10404255" cy="1074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riangle 6">
            <a:extLst>
              <a:ext uri="{FF2B5EF4-FFF2-40B4-BE49-F238E27FC236}">
                <a16:creationId xmlns:a16="http://schemas.microsoft.com/office/drawing/2014/main" id="{FC07216E-E0E1-664D-1201-9409604EEF08}"/>
              </a:ext>
            </a:extLst>
          </p:cNvPr>
          <p:cNvSpPr/>
          <p:nvPr/>
        </p:nvSpPr>
        <p:spPr>
          <a:xfrm rot="5400000">
            <a:off x="11106015" y="3367718"/>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9568712-CEB1-5560-97E1-E9364FD202A6}"/>
              </a:ext>
            </a:extLst>
          </p:cNvPr>
          <p:cNvSpPr txBox="1"/>
          <p:nvPr/>
        </p:nvSpPr>
        <p:spPr>
          <a:xfrm>
            <a:off x="486269" y="364462"/>
            <a:ext cx="11284817" cy="1569660"/>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Extended Producer Responsibility Scheme &amp; Deposit Refund System</a:t>
            </a:r>
          </a:p>
        </p:txBody>
      </p:sp>
      <p:sp>
        <p:nvSpPr>
          <p:cNvPr id="14" name="Oval 13">
            <a:extLst>
              <a:ext uri="{FF2B5EF4-FFF2-40B4-BE49-F238E27FC236}">
                <a16:creationId xmlns:a16="http://schemas.microsoft.com/office/drawing/2014/main" id="{5855D623-DE09-7A4B-0AB3-7058CA7F56CD}"/>
              </a:ext>
            </a:extLst>
          </p:cNvPr>
          <p:cNvSpPr/>
          <p:nvPr/>
        </p:nvSpPr>
        <p:spPr>
          <a:xfrm>
            <a:off x="1204407" y="2971097"/>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2023</a:t>
            </a:r>
            <a:endParaRPr lang="en-GB" sz="700" b="1" noProof="0" dirty="0">
              <a:solidFill>
                <a:schemeClr val="tx2"/>
              </a:solidFill>
              <a:latin typeface="PT Sans" panose="020B0503020203020204" pitchFamily="34" charset="77"/>
            </a:endParaRPr>
          </a:p>
        </p:txBody>
      </p:sp>
      <p:sp>
        <p:nvSpPr>
          <p:cNvPr id="17" name="Rectangle: Rounded Corners 10">
            <a:extLst>
              <a:ext uri="{FF2B5EF4-FFF2-40B4-BE49-F238E27FC236}">
                <a16:creationId xmlns:a16="http://schemas.microsoft.com/office/drawing/2014/main" id="{6171DE98-3DB4-8685-822E-D50124D57CB2}"/>
              </a:ext>
            </a:extLst>
          </p:cNvPr>
          <p:cNvSpPr/>
          <p:nvPr/>
        </p:nvSpPr>
        <p:spPr>
          <a:xfrm>
            <a:off x="930512" y="43069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PT Sans" panose="020B0503020203020204" pitchFamily="34" charset="77"/>
              </a:rPr>
              <a:t>EPR Assessments for WEE, Batteries, ELVs, Oils</a:t>
            </a:r>
          </a:p>
        </p:txBody>
      </p:sp>
      <p:sp>
        <p:nvSpPr>
          <p:cNvPr id="5" name="Rectangle: Rounded Corners 10">
            <a:extLst>
              <a:ext uri="{FF2B5EF4-FFF2-40B4-BE49-F238E27FC236}">
                <a16:creationId xmlns:a16="http://schemas.microsoft.com/office/drawing/2014/main" id="{382B3966-C39B-A72E-2415-F568243DEAF9}"/>
              </a:ext>
            </a:extLst>
          </p:cNvPr>
          <p:cNvSpPr/>
          <p:nvPr/>
        </p:nvSpPr>
        <p:spPr>
          <a:xfrm>
            <a:off x="4460916" y="4306940"/>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PT Sans" panose="020B0503020203020204" pitchFamily="34" charset="77"/>
              </a:rPr>
              <a:t>Legal base for EPR introduced into the New Law on Integrated Waste Management</a:t>
            </a:r>
          </a:p>
        </p:txBody>
      </p:sp>
      <p:sp>
        <p:nvSpPr>
          <p:cNvPr id="6" name="Rectangle: Rounded Corners 10">
            <a:extLst>
              <a:ext uri="{FF2B5EF4-FFF2-40B4-BE49-F238E27FC236}">
                <a16:creationId xmlns:a16="http://schemas.microsoft.com/office/drawing/2014/main" id="{93A9B653-3169-5E89-CBCE-10BDF7BD77D7}"/>
              </a:ext>
            </a:extLst>
          </p:cNvPr>
          <p:cNvSpPr/>
          <p:nvPr/>
        </p:nvSpPr>
        <p:spPr>
          <a:xfrm>
            <a:off x="6153532" y="4306940"/>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PT Sans" panose="020B0503020203020204" pitchFamily="34" charset="77"/>
              </a:rPr>
              <a:t>EPR assessments for Tires and Packaging </a:t>
            </a:r>
          </a:p>
          <a:p>
            <a:endParaRPr lang="en-US" sz="1400" dirty="0">
              <a:latin typeface="PT Sans" panose="020B0503020203020204" pitchFamily="34" charset="77"/>
            </a:endParaRPr>
          </a:p>
        </p:txBody>
      </p:sp>
      <p:sp>
        <p:nvSpPr>
          <p:cNvPr id="8" name="Oval 7">
            <a:extLst>
              <a:ext uri="{FF2B5EF4-FFF2-40B4-BE49-F238E27FC236}">
                <a16:creationId xmlns:a16="http://schemas.microsoft.com/office/drawing/2014/main" id="{8F8C95BA-9109-2214-E549-3072B2917D92}"/>
              </a:ext>
            </a:extLst>
          </p:cNvPr>
          <p:cNvSpPr/>
          <p:nvPr/>
        </p:nvSpPr>
        <p:spPr>
          <a:xfrm>
            <a:off x="8895158" y="2690725"/>
            <a:ext cx="1577553" cy="156966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noProof="0" dirty="0">
                <a:solidFill>
                  <a:schemeClr val="tx2"/>
                </a:solidFill>
                <a:latin typeface="PT Sans" panose="020B0503020203020204" pitchFamily="34" charset="77"/>
              </a:rPr>
              <a:t>2027</a:t>
            </a:r>
          </a:p>
        </p:txBody>
      </p:sp>
      <p:sp>
        <p:nvSpPr>
          <p:cNvPr id="9" name="Oval 8">
            <a:extLst>
              <a:ext uri="{FF2B5EF4-FFF2-40B4-BE49-F238E27FC236}">
                <a16:creationId xmlns:a16="http://schemas.microsoft.com/office/drawing/2014/main" id="{5342A7C3-28DD-FBFD-D207-DBA0B2087F54}"/>
              </a:ext>
            </a:extLst>
          </p:cNvPr>
          <p:cNvSpPr/>
          <p:nvPr/>
        </p:nvSpPr>
        <p:spPr>
          <a:xfrm>
            <a:off x="5595380" y="2924542"/>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noProof="0" dirty="0">
                <a:solidFill>
                  <a:schemeClr val="tx2"/>
                </a:solidFill>
                <a:latin typeface="PT Sans" panose="020B0503020203020204" pitchFamily="34" charset="77"/>
              </a:rPr>
              <a:t>2026</a:t>
            </a:r>
            <a:endParaRPr lang="en-GB" sz="700" b="1" noProof="0" dirty="0">
              <a:solidFill>
                <a:schemeClr val="tx2"/>
              </a:solidFill>
              <a:latin typeface="PT Sans" panose="020B0503020203020204" pitchFamily="34" charset="77"/>
            </a:endParaRPr>
          </a:p>
        </p:txBody>
      </p:sp>
      <p:sp>
        <p:nvSpPr>
          <p:cNvPr id="10" name="Rectangle: Rounded Corners 10">
            <a:extLst>
              <a:ext uri="{FF2B5EF4-FFF2-40B4-BE49-F238E27FC236}">
                <a16:creationId xmlns:a16="http://schemas.microsoft.com/office/drawing/2014/main" id="{B6B20311-06EB-0567-031D-DDFC79E84EF2}"/>
              </a:ext>
            </a:extLst>
          </p:cNvPr>
          <p:cNvSpPr/>
          <p:nvPr/>
        </p:nvSpPr>
        <p:spPr>
          <a:xfrm>
            <a:off x="8895158" y="4306940"/>
            <a:ext cx="1577553" cy="1899999"/>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dirty="0">
                <a:latin typeface="PT Sans" panose="020B0503020203020204" pitchFamily="34" charset="77"/>
              </a:rPr>
              <a:t>New Secondary Legislation including EPR adopted</a:t>
            </a:r>
          </a:p>
        </p:txBody>
      </p:sp>
    </p:spTree>
    <p:extLst>
      <p:ext uri="{BB962C8B-B14F-4D97-AF65-F5344CB8AC3E}">
        <p14:creationId xmlns:p14="http://schemas.microsoft.com/office/powerpoint/2010/main" val="20679788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3C5B5-C48C-BF2D-EFF3-FF18B30C17A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4EFBED9-85EC-83A5-EC8D-BD66016B06C8}"/>
              </a:ext>
            </a:extLst>
          </p:cNvPr>
          <p:cNvSpPr txBox="1"/>
          <p:nvPr/>
        </p:nvSpPr>
        <p:spPr>
          <a:xfrm>
            <a:off x="486269" y="373324"/>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Data, Monitoring &amp; Enforcement</a:t>
            </a:r>
          </a:p>
        </p:txBody>
      </p:sp>
      <p:sp>
        <p:nvSpPr>
          <p:cNvPr id="3" name="Content Placeholder 2">
            <a:extLst>
              <a:ext uri="{FF2B5EF4-FFF2-40B4-BE49-F238E27FC236}">
                <a16:creationId xmlns:a16="http://schemas.microsoft.com/office/drawing/2014/main" id="{EBE1DC71-E90C-0B63-D9D9-3BB267CDAC7C}"/>
              </a:ext>
            </a:extLst>
          </p:cNvPr>
          <p:cNvSpPr txBox="1">
            <a:spLocks/>
          </p:cNvSpPr>
          <p:nvPr/>
        </p:nvSpPr>
        <p:spPr>
          <a:xfrm>
            <a:off x="810336" y="1400515"/>
            <a:ext cx="9118016" cy="3511538"/>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Arial" panose="020B0604020202020204" pitchFamily="34" charset="0"/>
              <a:buChar char="•"/>
            </a:pPr>
            <a:r>
              <a:rPr lang="en-GB" sz="2400" noProof="0" dirty="0">
                <a:solidFill>
                  <a:schemeClr val="tx1"/>
                </a:solidFill>
                <a:latin typeface="PT Sans" panose="020B0503020203020204" pitchFamily="34" charset="77"/>
              </a:rPr>
              <a:t>Establishment of a National Waste Information System (NWIS).</a:t>
            </a:r>
            <a:br>
              <a:rPr lang="en-GB" sz="2400" noProof="0" dirty="0">
                <a:solidFill>
                  <a:schemeClr val="tx1"/>
                </a:solidFill>
                <a:latin typeface="PT Sans" panose="020B0503020203020204" pitchFamily="34" charset="77"/>
              </a:rPr>
            </a:br>
            <a:endParaRPr lang="en-GB" sz="24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400" noProof="0" dirty="0">
                <a:solidFill>
                  <a:schemeClr val="tx1"/>
                </a:solidFill>
                <a:latin typeface="PT Sans" panose="020B0503020203020204" pitchFamily="34" charset="77"/>
              </a:rPr>
              <a:t>Mandatory reporting by municipalities, operators, and </a:t>
            </a:r>
            <a:r>
              <a:rPr lang="en-GB" sz="2400" noProof="0" dirty="0" err="1">
                <a:solidFill>
                  <a:schemeClr val="tx1"/>
                </a:solidFill>
                <a:latin typeface="PT Sans" panose="020B0503020203020204" pitchFamily="34" charset="77"/>
              </a:rPr>
              <a:t>PROs.</a:t>
            </a:r>
            <a:br>
              <a:rPr lang="en-GB" sz="2400" noProof="0" dirty="0">
                <a:solidFill>
                  <a:schemeClr val="tx1"/>
                </a:solidFill>
                <a:latin typeface="PT Sans" panose="020B0503020203020204" pitchFamily="34" charset="77"/>
              </a:rPr>
            </a:br>
            <a:endParaRPr lang="en-GB" sz="24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400" noProof="0" dirty="0">
                <a:solidFill>
                  <a:schemeClr val="tx1"/>
                </a:solidFill>
                <a:latin typeface="PT Sans" panose="020B0503020203020204" pitchFamily="34" charset="77"/>
              </a:rPr>
              <a:t>Strengthened inspection powers.</a:t>
            </a:r>
            <a:br>
              <a:rPr lang="en-GB" sz="2400" noProof="0" dirty="0">
                <a:solidFill>
                  <a:schemeClr val="tx1"/>
                </a:solidFill>
                <a:latin typeface="PT Sans" panose="020B0503020203020204" pitchFamily="34" charset="77"/>
              </a:rPr>
            </a:br>
            <a:endParaRPr lang="en-GB" sz="2400" noProof="0" dirty="0">
              <a:solidFill>
                <a:schemeClr val="tx1"/>
              </a:solidFill>
              <a:latin typeface="PT Sans" panose="020B0503020203020204" pitchFamily="34" charset="77"/>
            </a:endParaRPr>
          </a:p>
          <a:p>
            <a:pPr marL="285750" indent="-285750" algn="l">
              <a:buFont typeface="Arial" panose="020B0604020202020204" pitchFamily="34" charset="0"/>
              <a:buChar char="•"/>
            </a:pPr>
            <a:r>
              <a:rPr lang="en-GB" sz="2400" noProof="0" dirty="0">
                <a:solidFill>
                  <a:schemeClr val="tx1"/>
                </a:solidFill>
                <a:latin typeface="PT Sans" panose="020B0503020203020204" pitchFamily="34" charset="77"/>
              </a:rPr>
              <a:t>Regular performance and compliance audits.</a:t>
            </a:r>
          </a:p>
        </p:txBody>
      </p:sp>
      <p:pic>
        <p:nvPicPr>
          <p:cNvPr id="5" name="Picture 4">
            <a:extLst>
              <a:ext uri="{FF2B5EF4-FFF2-40B4-BE49-F238E27FC236}">
                <a16:creationId xmlns:a16="http://schemas.microsoft.com/office/drawing/2014/main" id="{E00A8CA7-4D8A-A7E6-7EEC-50C6B5BFFB1F}"/>
              </a:ext>
            </a:extLst>
          </p:cNvPr>
          <p:cNvPicPr>
            <a:picLocks noChangeAspect="1"/>
          </p:cNvPicPr>
          <p:nvPr/>
        </p:nvPicPr>
        <p:blipFill>
          <a:blip r:embed="rId2"/>
          <a:stretch>
            <a:fillRect/>
          </a:stretch>
        </p:blipFill>
        <p:spPr>
          <a:xfrm>
            <a:off x="8490237" y="2967789"/>
            <a:ext cx="2876229" cy="3266574"/>
          </a:xfrm>
          <a:prstGeom prst="rect">
            <a:avLst/>
          </a:prstGeom>
        </p:spPr>
      </p:pic>
    </p:spTree>
    <p:extLst>
      <p:ext uri="{BB962C8B-B14F-4D97-AF65-F5344CB8AC3E}">
        <p14:creationId xmlns:p14="http://schemas.microsoft.com/office/powerpoint/2010/main" val="2985080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636FF-4610-7BDC-E727-0A06E4C79341}"/>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9D2AB4A0-F32F-1D13-B433-BDD3A298E0A7}"/>
              </a:ext>
            </a:extLst>
          </p:cNvPr>
          <p:cNvGrpSpPr/>
          <p:nvPr/>
        </p:nvGrpSpPr>
        <p:grpSpPr>
          <a:xfrm rot="18940395">
            <a:off x="-571293" y="1479658"/>
            <a:ext cx="5371573" cy="5350709"/>
            <a:chOff x="359197" y="834271"/>
            <a:chExt cx="5371573" cy="5350709"/>
          </a:xfrm>
          <a:solidFill>
            <a:schemeClr val="accent1">
              <a:lumMod val="40000"/>
              <a:lumOff val="60000"/>
            </a:schemeClr>
          </a:solidFill>
        </p:grpSpPr>
        <p:sp>
          <p:nvSpPr>
            <p:cNvPr id="23" name="Pie 22">
              <a:extLst>
                <a:ext uri="{FF2B5EF4-FFF2-40B4-BE49-F238E27FC236}">
                  <a16:creationId xmlns:a16="http://schemas.microsoft.com/office/drawing/2014/main" id="{5A5D573A-7807-C309-396E-15105D4E5435}"/>
                </a:ext>
              </a:extLst>
            </p:cNvPr>
            <p:cNvSpPr/>
            <p:nvPr/>
          </p:nvSpPr>
          <p:spPr>
            <a:xfrm rot="16200000">
              <a:off x="385235" y="969485"/>
              <a:ext cx="5189457" cy="5241533"/>
            </a:xfrm>
            <a:prstGeom prst="pie">
              <a:avLst>
                <a:gd name="adj1" fmla="val 10785128"/>
                <a:gd name="adj2" fmla="val 16200000"/>
              </a:avLst>
            </a:prstGeom>
            <a:solidFill>
              <a:srgbClr val="478F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Pie 23">
              <a:extLst>
                <a:ext uri="{FF2B5EF4-FFF2-40B4-BE49-F238E27FC236}">
                  <a16:creationId xmlns:a16="http://schemas.microsoft.com/office/drawing/2014/main" id="{8110F7D3-2BFF-D4C2-0E85-782AE4C1CDB8}"/>
                </a:ext>
              </a:extLst>
            </p:cNvPr>
            <p:cNvSpPr/>
            <p:nvPr/>
          </p:nvSpPr>
          <p:spPr>
            <a:xfrm rot="10800000">
              <a:off x="541313" y="943446"/>
              <a:ext cx="5189457" cy="5241533"/>
            </a:xfrm>
            <a:prstGeom prst="pie">
              <a:avLst>
                <a:gd name="adj1" fmla="val 10785035"/>
                <a:gd name="adj2" fmla="val 16199999"/>
              </a:avLst>
            </a:prstGeom>
            <a:solidFill>
              <a:srgbClr val="709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Pie 24">
              <a:extLst>
                <a:ext uri="{FF2B5EF4-FFF2-40B4-BE49-F238E27FC236}">
                  <a16:creationId xmlns:a16="http://schemas.microsoft.com/office/drawing/2014/main" id="{68183125-DD0C-5D17-3DD6-90ABB15FDBC3}"/>
                </a:ext>
              </a:extLst>
            </p:cNvPr>
            <p:cNvSpPr/>
            <p:nvPr/>
          </p:nvSpPr>
          <p:spPr>
            <a:xfrm rot="5400000">
              <a:off x="515275" y="808233"/>
              <a:ext cx="5189457" cy="5241533"/>
            </a:xfrm>
            <a:prstGeom prst="pie">
              <a:avLst>
                <a:gd name="adj1" fmla="val 10785035"/>
                <a:gd name="adj2" fmla="val 16200000"/>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60000"/>
                    <a:lumOff val="40000"/>
                  </a:schemeClr>
                </a:solidFill>
              </a:endParaRPr>
            </a:p>
          </p:txBody>
        </p:sp>
        <p:sp>
          <p:nvSpPr>
            <p:cNvPr id="26" name="Pie 25">
              <a:extLst>
                <a:ext uri="{FF2B5EF4-FFF2-40B4-BE49-F238E27FC236}">
                  <a16:creationId xmlns:a16="http://schemas.microsoft.com/office/drawing/2014/main" id="{74BFF223-2096-57FF-E2BF-67967D668496}"/>
                </a:ext>
              </a:extLst>
            </p:cNvPr>
            <p:cNvSpPr/>
            <p:nvPr/>
          </p:nvSpPr>
          <p:spPr>
            <a:xfrm>
              <a:off x="359197" y="834271"/>
              <a:ext cx="5189457" cy="5241533"/>
            </a:xfrm>
            <a:prstGeom prst="pie">
              <a:avLst>
                <a:gd name="adj1" fmla="val 10785035"/>
                <a:gd name="adj2" fmla="val 162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E71B8"/>
                </a:solidFill>
              </a:endParaRPr>
            </a:p>
          </p:txBody>
        </p:sp>
        <p:sp>
          <p:nvSpPr>
            <p:cNvPr id="29" name="Oval 28">
              <a:extLst>
                <a:ext uri="{FF2B5EF4-FFF2-40B4-BE49-F238E27FC236}">
                  <a16:creationId xmlns:a16="http://schemas.microsoft.com/office/drawing/2014/main" id="{6CD7505A-A758-F250-E2D5-AA75F2F85D2F}"/>
                </a:ext>
              </a:extLst>
            </p:cNvPr>
            <p:cNvSpPr/>
            <p:nvPr/>
          </p:nvSpPr>
          <p:spPr>
            <a:xfrm>
              <a:off x="1929142" y="2363508"/>
              <a:ext cx="2288379" cy="22788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TextBox 30">
            <a:extLst>
              <a:ext uri="{FF2B5EF4-FFF2-40B4-BE49-F238E27FC236}">
                <a16:creationId xmlns:a16="http://schemas.microsoft.com/office/drawing/2014/main" id="{CB51F276-D249-3C2B-6D40-5CF81DC10C76}"/>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Institutional Framework </a:t>
            </a:r>
          </a:p>
        </p:txBody>
      </p:sp>
      <p:sp>
        <p:nvSpPr>
          <p:cNvPr id="32" name="TextBox 31">
            <a:extLst>
              <a:ext uri="{FF2B5EF4-FFF2-40B4-BE49-F238E27FC236}">
                <a16:creationId xmlns:a16="http://schemas.microsoft.com/office/drawing/2014/main" id="{624A38E9-2260-B293-FAB8-81A10FE9D775}"/>
              </a:ext>
            </a:extLst>
          </p:cNvPr>
          <p:cNvSpPr txBox="1"/>
          <p:nvPr/>
        </p:nvSpPr>
        <p:spPr>
          <a:xfrm>
            <a:off x="1126417" y="1939639"/>
            <a:ext cx="1995800" cy="646331"/>
          </a:xfrm>
          <a:prstGeom prst="rect">
            <a:avLst/>
          </a:prstGeom>
          <a:noFill/>
        </p:spPr>
        <p:txBody>
          <a:bodyPr wrap="square" rtlCol="0">
            <a:spAutoFit/>
          </a:bodyPr>
          <a:lstStyle/>
          <a:p>
            <a:pPr algn="ctr"/>
            <a:r>
              <a:rPr lang="en-US" sz="3600" b="1" dirty="0">
                <a:solidFill>
                  <a:schemeClr val="bg1"/>
                </a:solidFill>
                <a:latin typeface="PT Sans" panose="020B0503020203020204" pitchFamily="34" charset="77"/>
              </a:rPr>
              <a:t>MESPI</a:t>
            </a:r>
            <a:endParaRPr lang="en-US" sz="4000" b="1" dirty="0">
              <a:solidFill>
                <a:schemeClr val="bg1"/>
              </a:solidFill>
              <a:latin typeface="PT Sans" panose="020B0503020203020204" pitchFamily="34" charset="77"/>
            </a:endParaRPr>
          </a:p>
        </p:txBody>
      </p:sp>
      <p:sp>
        <p:nvSpPr>
          <p:cNvPr id="4" name="TextBox 3">
            <a:extLst>
              <a:ext uri="{FF2B5EF4-FFF2-40B4-BE49-F238E27FC236}">
                <a16:creationId xmlns:a16="http://schemas.microsoft.com/office/drawing/2014/main" id="{EED5545F-C205-7767-F6C9-A76C7466E384}"/>
              </a:ext>
            </a:extLst>
          </p:cNvPr>
          <p:cNvSpPr txBox="1"/>
          <p:nvPr/>
        </p:nvSpPr>
        <p:spPr>
          <a:xfrm>
            <a:off x="5207875" y="2603726"/>
            <a:ext cx="6400800" cy="2698175"/>
          </a:xfrm>
          <a:prstGeom prst="rect">
            <a:avLst/>
          </a:prstGeom>
          <a:noFill/>
        </p:spPr>
        <p:txBody>
          <a:bodyPr wrap="square">
            <a:spAutoFit/>
          </a:bodyPr>
          <a:lstStyle/>
          <a:p>
            <a:pPr marL="288925" lvl="3" indent="0">
              <a:lnSpc>
                <a:spcPts val="1000"/>
              </a:lnSpc>
              <a:buNone/>
            </a:pPr>
            <a:endParaRPr lang="en-US" sz="2300" dirty="0">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Leads national waste policy and strategies</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Prepares primary and secondary legislation on integrated waste management system and oversees implementation</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Permits – PROs licensing</a:t>
            </a:r>
          </a:p>
        </p:txBody>
      </p:sp>
    </p:spTree>
    <p:extLst>
      <p:ext uri="{BB962C8B-B14F-4D97-AF65-F5344CB8AC3E}">
        <p14:creationId xmlns:p14="http://schemas.microsoft.com/office/powerpoint/2010/main" val="2565560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4AC7B-A84B-B1AA-C7CE-20E04C1F2C5D}"/>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76CD68DF-0A15-8238-1080-BDB47F3B8E46}"/>
              </a:ext>
            </a:extLst>
          </p:cNvPr>
          <p:cNvGrpSpPr/>
          <p:nvPr/>
        </p:nvGrpSpPr>
        <p:grpSpPr>
          <a:xfrm rot="2707674">
            <a:off x="-571293" y="1479658"/>
            <a:ext cx="5371573" cy="5350709"/>
            <a:chOff x="359197" y="834271"/>
            <a:chExt cx="5371573" cy="5350709"/>
          </a:xfrm>
          <a:solidFill>
            <a:schemeClr val="accent1">
              <a:lumMod val="40000"/>
              <a:lumOff val="60000"/>
            </a:schemeClr>
          </a:solidFill>
        </p:grpSpPr>
        <p:sp>
          <p:nvSpPr>
            <p:cNvPr id="23" name="Pie 22">
              <a:extLst>
                <a:ext uri="{FF2B5EF4-FFF2-40B4-BE49-F238E27FC236}">
                  <a16:creationId xmlns:a16="http://schemas.microsoft.com/office/drawing/2014/main" id="{5C64751F-4045-C0D0-3E6F-32EE67004582}"/>
                </a:ext>
              </a:extLst>
            </p:cNvPr>
            <p:cNvSpPr/>
            <p:nvPr/>
          </p:nvSpPr>
          <p:spPr>
            <a:xfrm rot="16200000">
              <a:off x="385235" y="969485"/>
              <a:ext cx="5189457" cy="5241533"/>
            </a:xfrm>
            <a:prstGeom prst="pie">
              <a:avLst>
                <a:gd name="adj1" fmla="val 10785128"/>
                <a:gd name="adj2" fmla="val 16200000"/>
              </a:avLst>
            </a:prstGeom>
            <a:solidFill>
              <a:srgbClr val="478F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Pie 23">
              <a:extLst>
                <a:ext uri="{FF2B5EF4-FFF2-40B4-BE49-F238E27FC236}">
                  <a16:creationId xmlns:a16="http://schemas.microsoft.com/office/drawing/2014/main" id="{E0146D49-2ABC-4F00-9F82-5C756F604E82}"/>
                </a:ext>
              </a:extLst>
            </p:cNvPr>
            <p:cNvSpPr/>
            <p:nvPr/>
          </p:nvSpPr>
          <p:spPr>
            <a:xfrm rot="10800000">
              <a:off x="541313" y="943446"/>
              <a:ext cx="5189457" cy="5241533"/>
            </a:xfrm>
            <a:prstGeom prst="pie">
              <a:avLst>
                <a:gd name="adj1" fmla="val 10785035"/>
                <a:gd name="adj2" fmla="val 16199999"/>
              </a:avLst>
            </a:prstGeom>
            <a:solidFill>
              <a:srgbClr val="709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Pie 24">
              <a:extLst>
                <a:ext uri="{FF2B5EF4-FFF2-40B4-BE49-F238E27FC236}">
                  <a16:creationId xmlns:a16="http://schemas.microsoft.com/office/drawing/2014/main" id="{6EE150AA-9698-4FC8-78B8-6A49FAB5CC5A}"/>
                </a:ext>
              </a:extLst>
            </p:cNvPr>
            <p:cNvSpPr/>
            <p:nvPr/>
          </p:nvSpPr>
          <p:spPr>
            <a:xfrm rot="5400000">
              <a:off x="515275" y="808233"/>
              <a:ext cx="5189457" cy="5241533"/>
            </a:xfrm>
            <a:prstGeom prst="pie">
              <a:avLst>
                <a:gd name="adj1" fmla="val 10785035"/>
                <a:gd name="adj2" fmla="val 16200000"/>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60000"/>
                    <a:lumOff val="40000"/>
                  </a:schemeClr>
                </a:solidFill>
              </a:endParaRPr>
            </a:p>
          </p:txBody>
        </p:sp>
        <p:sp>
          <p:nvSpPr>
            <p:cNvPr id="26" name="Pie 25">
              <a:extLst>
                <a:ext uri="{FF2B5EF4-FFF2-40B4-BE49-F238E27FC236}">
                  <a16:creationId xmlns:a16="http://schemas.microsoft.com/office/drawing/2014/main" id="{E4CBD11C-4AEC-0DCA-E5E0-3B5111F4C795}"/>
                </a:ext>
              </a:extLst>
            </p:cNvPr>
            <p:cNvSpPr/>
            <p:nvPr/>
          </p:nvSpPr>
          <p:spPr>
            <a:xfrm>
              <a:off x="359197" y="834271"/>
              <a:ext cx="5189457" cy="5241533"/>
            </a:xfrm>
            <a:prstGeom prst="pie">
              <a:avLst>
                <a:gd name="adj1" fmla="val 10785035"/>
                <a:gd name="adj2" fmla="val 162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E71B8"/>
                </a:solidFill>
              </a:endParaRPr>
            </a:p>
          </p:txBody>
        </p:sp>
        <p:sp>
          <p:nvSpPr>
            <p:cNvPr id="29" name="Oval 28">
              <a:extLst>
                <a:ext uri="{FF2B5EF4-FFF2-40B4-BE49-F238E27FC236}">
                  <a16:creationId xmlns:a16="http://schemas.microsoft.com/office/drawing/2014/main" id="{A2BE2455-33CF-6A96-6D7D-DAF33332F9AB}"/>
                </a:ext>
              </a:extLst>
            </p:cNvPr>
            <p:cNvSpPr/>
            <p:nvPr/>
          </p:nvSpPr>
          <p:spPr>
            <a:xfrm>
              <a:off x="1929142" y="2363508"/>
              <a:ext cx="2288379" cy="22788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TextBox 30">
            <a:extLst>
              <a:ext uri="{FF2B5EF4-FFF2-40B4-BE49-F238E27FC236}">
                <a16:creationId xmlns:a16="http://schemas.microsoft.com/office/drawing/2014/main" id="{04661BF8-7C63-1E3C-F7F8-27811957BBCD}"/>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Institutional Framework </a:t>
            </a:r>
          </a:p>
        </p:txBody>
      </p:sp>
      <p:sp>
        <p:nvSpPr>
          <p:cNvPr id="32" name="TextBox 31">
            <a:extLst>
              <a:ext uri="{FF2B5EF4-FFF2-40B4-BE49-F238E27FC236}">
                <a16:creationId xmlns:a16="http://schemas.microsoft.com/office/drawing/2014/main" id="{70C556E1-9CE9-B0A7-DFB2-FD4E4ED6EC80}"/>
              </a:ext>
            </a:extLst>
          </p:cNvPr>
          <p:cNvSpPr txBox="1"/>
          <p:nvPr/>
        </p:nvSpPr>
        <p:spPr>
          <a:xfrm>
            <a:off x="1126417" y="1939639"/>
            <a:ext cx="1995800" cy="646331"/>
          </a:xfrm>
          <a:prstGeom prst="rect">
            <a:avLst/>
          </a:prstGeom>
          <a:noFill/>
        </p:spPr>
        <p:txBody>
          <a:bodyPr wrap="square" rtlCol="0">
            <a:spAutoFit/>
          </a:bodyPr>
          <a:lstStyle/>
          <a:p>
            <a:pPr algn="ctr"/>
            <a:r>
              <a:rPr lang="en-US" sz="3600" b="1" dirty="0">
                <a:solidFill>
                  <a:schemeClr val="bg1"/>
                </a:solidFill>
                <a:latin typeface="PT Sans" panose="020B0503020203020204" pitchFamily="34" charset="77"/>
              </a:rPr>
              <a:t>KEPA</a:t>
            </a:r>
            <a:endParaRPr lang="en-US" sz="4000" b="1" dirty="0">
              <a:solidFill>
                <a:schemeClr val="bg1"/>
              </a:solidFill>
              <a:latin typeface="PT Sans" panose="020B0503020203020204" pitchFamily="34" charset="77"/>
            </a:endParaRPr>
          </a:p>
        </p:txBody>
      </p:sp>
      <p:sp>
        <p:nvSpPr>
          <p:cNvPr id="4" name="TextBox 3">
            <a:extLst>
              <a:ext uri="{FF2B5EF4-FFF2-40B4-BE49-F238E27FC236}">
                <a16:creationId xmlns:a16="http://schemas.microsoft.com/office/drawing/2014/main" id="{B2A2062D-060D-4497-E94F-1A64E3FEBF35}"/>
              </a:ext>
            </a:extLst>
          </p:cNvPr>
          <p:cNvSpPr txBox="1"/>
          <p:nvPr/>
        </p:nvSpPr>
        <p:spPr>
          <a:xfrm>
            <a:off x="5369344" y="3185242"/>
            <a:ext cx="6400800" cy="1282402"/>
          </a:xfrm>
          <a:prstGeom prst="rect">
            <a:avLst/>
          </a:prstGeom>
          <a:noFill/>
        </p:spPr>
        <p:txBody>
          <a:bodyPr wrap="square">
            <a:spAutoFit/>
          </a:bodyPr>
          <a:lstStyle/>
          <a:p>
            <a:pPr marL="288925" lvl="3" indent="0">
              <a:lnSpc>
                <a:spcPts val="1000"/>
              </a:lnSpc>
              <a:buNone/>
            </a:pPr>
            <a:endParaRPr lang="en-US" sz="2300" dirty="0">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Collects and manages national waste data</a:t>
            </a:r>
            <a:br>
              <a:rPr lang="en-US" sz="2300" dirty="0">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Monitors compliance and reporting</a:t>
            </a:r>
          </a:p>
        </p:txBody>
      </p:sp>
    </p:spTree>
    <p:extLst>
      <p:ext uri="{BB962C8B-B14F-4D97-AF65-F5344CB8AC3E}">
        <p14:creationId xmlns:p14="http://schemas.microsoft.com/office/powerpoint/2010/main" val="2344358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2CDF2-C163-863D-987E-65B2B87460D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21E0A362-5D3F-041F-4558-C4758120CC3E}"/>
              </a:ext>
            </a:extLst>
          </p:cNvPr>
          <p:cNvGrpSpPr/>
          <p:nvPr/>
        </p:nvGrpSpPr>
        <p:grpSpPr>
          <a:xfrm rot="8083044">
            <a:off x="-571293" y="1479658"/>
            <a:ext cx="5371573" cy="5350709"/>
            <a:chOff x="359197" y="834271"/>
            <a:chExt cx="5371573" cy="5350709"/>
          </a:xfrm>
          <a:solidFill>
            <a:schemeClr val="accent1">
              <a:lumMod val="40000"/>
              <a:lumOff val="60000"/>
            </a:schemeClr>
          </a:solidFill>
        </p:grpSpPr>
        <p:sp>
          <p:nvSpPr>
            <p:cNvPr id="23" name="Pie 22">
              <a:extLst>
                <a:ext uri="{FF2B5EF4-FFF2-40B4-BE49-F238E27FC236}">
                  <a16:creationId xmlns:a16="http://schemas.microsoft.com/office/drawing/2014/main" id="{A556F111-B9B4-EDA0-89FC-8025F43BC61F}"/>
                </a:ext>
              </a:extLst>
            </p:cNvPr>
            <p:cNvSpPr/>
            <p:nvPr/>
          </p:nvSpPr>
          <p:spPr>
            <a:xfrm rot="16200000">
              <a:off x="385235" y="969485"/>
              <a:ext cx="5189457" cy="5241533"/>
            </a:xfrm>
            <a:prstGeom prst="pie">
              <a:avLst>
                <a:gd name="adj1" fmla="val 10785128"/>
                <a:gd name="adj2" fmla="val 16200000"/>
              </a:avLst>
            </a:prstGeom>
            <a:solidFill>
              <a:srgbClr val="478F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Pie 23">
              <a:extLst>
                <a:ext uri="{FF2B5EF4-FFF2-40B4-BE49-F238E27FC236}">
                  <a16:creationId xmlns:a16="http://schemas.microsoft.com/office/drawing/2014/main" id="{68F3187E-AF68-0C65-5825-D93E9E917035}"/>
                </a:ext>
              </a:extLst>
            </p:cNvPr>
            <p:cNvSpPr/>
            <p:nvPr/>
          </p:nvSpPr>
          <p:spPr>
            <a:xfrm rot="10800000">
              <a:off x="541313" y="943446"/>
              <a:ext cx="5189457" cy="5241533"/>
            </a:xfrm>
            <a:prstGeom prst="pie">
              <a:avLst>
                <a:gd name="adj1" fmla="val 10785035"/>
                <a:gd name="adj2" fmla="val 16199999"/>
              </a:avLst>
            </a:prstGeom>
            <a:solidFill>
              <a:srgbClr val="709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Pie 24">
              <a:extLst>
                <a:ext uri="{FF2B5EF4-FFF2-40B4-BE49-F238E27FC236}">
                  <a16:creationId xmlns:a16="http://schemas.microsoft.com/office/drawing/2014/main" id="{293F1997-4940-ED70-9546-FA5F862430DF}"/>
                </a:ext>
              </a:extLst>
            </p:cNvPr>
            <p:cNvSpPr/>
            <p:nvPr/>
          </p:nvSpPr>
          <p:spPr>
            <a:xfrm rot="5400000">
              <a:off x="515275" y="808233"/>
              <a:ext cx="5189457" cy="5241533"/>
            </a:xfrm>
            <a:prstGeom prst="pie">
              <a:avLst>
                <a:gd name="adj1" fmla="val 10785035"/>
                <a:gd name="adj2" fmla="val 16200000"/>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60000"/>
                    <a:lumOff val="40000"/>
                  </a:schemeClr>
                </a:solidFill>
              </a:endParaRPr>
            </a:p>
          </p:txBody>
        </p:sp>
        <p:sp>
          <p:nvSpPr>
            <p:cNvPr id="26" name="Pie 25">
              <a:extLst>
                <a:ext uri="{FF2B5EF4-FFF2-40B4-BE49-F238E27FC236}">
                  <a16:creationId xmlns:a16="http://schemas.microsoft.com/office/drawing/2014/main" id="{2529E709-B562-EAF6-EFEA-0A4F1638EF6F}"/>
                </a:ext>
              </a:extLst>
            </p:cNvPr>
            <p:cNvSpPr/>
            <p:nvPr/>
          </p:nvSpPr>
          <p:spPr>
            <a:xfrm>
              <a:off x="359197" y="834271"/>
              <a:ext cx="5189457" cy="5241533"/>
            </a:xfrm>
            <a:prstGeom prst="pie">
              <a:avLst>
                <a:gd name="adj1" fmla="val 10785035"/>
                <a:gd name="adj2" fmla="val 162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E71B8"/>
                </a:solidFill>
              </a:endParaRPr>
            </a:p>
          </p:txBody>
        </p:sp>
        <p:sp>
          <p:nvSpPr>
            <p:cNvPr id="29" name="Oval 28">
              <a:extLst>
                <a:ext uri="{FF2B5EF4-FFF2-40B4-BE49-F238E27FC236}">
                  <a16:creationId xmlns:a16="http://schemas.microsoft.com/office/drawing/2014/main" id="{E7A4452D-826A-684A-7E5D-8469111876FA}"/>
                </a:ext>
              </a:extLst>
            </p:cNvPr>
            <p:cNvSpPr/>
            <p:nvPr/>
          </p:nvSpPr>
          <p:spPr>
            <a:xfrm>
              <a:off x="1929142" y="2363508"/>
              <a:ext cx="2288379" cy="22788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TextBox 30">
            <a:extLst>
              <a:ext uri="{FF2B5EF4-FFF2-40B4-BE49-F238E27FC236}">
                <a16:creationId xmlns:a16="http://schemas.microsoft.com/office/drawing/2014/main" id="{8729B648-9D50-B1BA-203F-03E24049AD72}"/>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Institutional Framework </a:t>
            </a:r>
          </a:p>
        </p:txBody>
      </p:sp>
      <p:sp>
        <p:nvSpPr>
          <p:cNvPr id="32" name="TextBox 31">
            <a:extLst>
              <a:ext uri="{FF2B5EF4-FFF2-40B4-BE49-F238E27FC236}">
                <a16:creationId xmlns:a16="http://schemas.microsoft.com/office/drawing/2014/main" id="{9EF8A8E6-09C6-E780-F31C-04155DAFC539}"/>
              </a:ext>
            </a:extLst>
          </p:cNvPr>
          <p:cNvSpPr txBox="1"/>
          <p:nvPr/>
        </p:nvSpPr>
        <p:spPr>
          <a:xfrm>
            <a:off x="-54962" y="1909286"/>
            <a:ext cx="4287794" cy="646331"/>
          </a:xfrm>
          <a:prstGeom prst="rect">
            <a:avLst/>
          </a:prstGeom>
          <a:noFill/>
        </p:spPr>
        <p:txBody>
          <a:bodyPr wrap="square" rtlCol="0">
            <a:spAutoFit/>
          </a:bodyPr>
          <a:lstStyle/>
          <a:p>
            <a:pPr algn="ctr"/>
            <a:r>
              <a:rPr lang="en-US" sz="3600" b="1" dirty="0">
                <a:solidFill>
                  <a:schemeClr val="bg1"/>
                </a:solidFill>
                <a:latin typeface="PT Sans" panose="020B0503020203020204" pitchFamily="34" charset="77"/>
              </a:rPr>
              <a:t>Inspectorate</a:t>
            </a:r>
          </a:p>
        </p:txBody>
      </p:sp>
      <p:sp>
        <p:nvSpPr>
          <p:cNvPr id="5" name="TextBox 4">
            <a:extLst>
              <a:ext uri="{FF2B5EF4-FFF2-40B4-BE49-F238E27FC236}">
                <a16:creationId xmlns:a16="http://schemas.microsoft.com/office/drawing/2014/main" id="{6C4EFB15-C14C-1723-60D5-8CA33C3644F6}"/>
              </a:ext>
            </a:extLst>
          </p:cNvPr>
          <p:cNvSpPr txBox="1"/>
          <p:nvPr/>
        </p:nvSpPr>
        <p:spPr>
          <a:xfrm>
            <a:off x="5369344" y="2869630"/>
            <a:ext cx="6107580" cy="1636345"/>
          </a:xfrm>
          <a:prstGeom prst="rect">
            <a:avLst/>
          </a:prstGeom>
          <a:noFill/>
        </p:spPr>
        <p:txBody>
          <a:bodyPr wrap="square">
            <a:spAutoFit/>
          </a:bodyPr>
          <a:lstStyle/>
          <a:p>
            <a:pPr marL="288925" lvl="3" indent="0">
              <a:lnSpc>
                <a:spcPts val="1000"/>
              </a:lnSpc>
              <a:buNone/>
            </a:pPr>
            <a:endParaRPr lang="en-US" sz="2300" dirty="0">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Ensures that all operators follow the law</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Enforces penalties for illegal dumping or non-compliance</a:t>
            </a:r>
          </a:p>
        </p:txBody>
      </p:sp>
    </p:spTree>
    <p:extLst>
      <p:ext uri="{BB962C8B-B14F-4D97-AF65-F5344CB8AC3E}">
        <p14:creationId xmlns:p14="http://schemas.microsoft.com/office/powerpoint/2010/main" val="2157696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7D053-4F8E-4BCB-B846-9EA815FB34B8}"/>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9AF10EC3-CFF7-2730-847C-E6DB89DF478A}"/>
              </a:ext>
            </a:extLst>
          </p:cNvPr>
          <p:cNvGrpSpPr/>
          <p:nvPr/>
        </p:nvGrpSpPr>
        <p:grpSpPr>
          <a:xfrm rot="13543298">
            <a:off x="-571293" y="1479658"/>
            <a:ext cx="5371573" cy="5350709"/>
            <a:chOff x="359197" y="834271"/>
            <a:chExt cx="5371573" cy="5350709"/>
          </a:xfrm>
          <a:solidFill>
            <a:schemeClr val="accent1">
              <a:lumMod val="40000"/>
              <a:lumOff val="60000"/>
            </a:schemeClr>
          </a:solidFill>
        </p:grpSpPr>
        <p:sp>
          <p:nvSpPr>
            <p:cNvPr id="23" name="Pie 22">
              <a:extLst>
                <a:ext uri="{FF2B5EF4-FFF2-40B4-BE49-F238E27FC236}">
                  <a16:creationId xmlns:a16="http://schemas.microsoft.com/office/drawing/2014/main" id="{1C2B2B22-CD47-9459-6605-99D91A06EDB6}"/>
                </a:ext>
              </a:extLst>
            </p:cNvPr>
            <p:cNvSpPr/>
            <p:nvPr/>
          </p:nvSpPr>
          <p:spPr>
            <a:xfrm rot="16200000">
              <a:off x="385235" y="969485"/>
              <a:ext cx="5189457" cy="5241533"/>
            </a:xfrm>
            <a:prstGeom prst="pie">
              <a:avLst>
                <a:gd name="adj1" fmla="val 10785128"/>
                <a:gd name="adj2" fmla="val 16200000"/>
              </a:avLst>
            </a:prstGeom>
            <a:solidFill>
              <a:srgbClr val="478F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Pie 23">
              <a:extLst>
                <a:ext uri="{FF2B5EF4-FFF2-40B4-BE49-F238E27FC236}">
                  <a16:creationId xmlns:a16="http://schemas.microsoft.com/office/drawing/2014/main" id="{C5AEFBFB-D2E8-BB1B-3681-0F56DF0D1142}"/>
                </a:ext>
              </a:extLst>
            </p:cNvPr>
            <p:cNvSpPr/>
            <p:nvPr/>
          </p:nvSpPr>
          <p:spPr>
            <a:xfrm rot="10800000">
              <a:off x="541313" y="943446"/>
              <a:ext cx="5189457" cy="5241533"/>
            </a:xfrm>
            <a:prstGeom prst="pie">
              <a:avLst>
                <a:gd name="adj1" fmla="val 10785035"/>
                <a:gd name="adj2" fmla="val 16199999"/>
              </a:avLst>
            </a:prstGeom>
            <a:solidFill>
              <a:srgbClr val="709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Pie 24">
              <a:extLst>
                <a:ext uri="{FF2B5EF4-FFF2-40B4-BE49-F238E27FC236}">
                  <a16:creationId xmlns:a16="http://schemas.microsoft.com/office/drawing/2014/main" id="{18447B46-4881-1A76-9563-64C0901E5992}"/>
                </a:ext>
              </a:extLst>
            </p:cNvPr>
            <p:cNvSpPr/>
            <p:nvPr/>
          </p:nvSpPr>
          <p:spPr>
            <a:xfrm rot="5400000">
              <a:off x="515275" y="808233"/>
              <a:ext cx="5189457" cy="5241533"/>
            </a:xfrm>
            <a:prstGeom prst="pie">
              <a:avLst>
                <a:gd name="adj1" fmla="val 10785035"/>
                <a:gd name="adj2" fmla="val 16200000"/>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60000"/>
                    <a:lumOff val="40000"/>
                  </a:schemeClr>
                </a:solidFill>
              </a:endParaRPr>
            </a:p>
          </p:txBody>
        </p:sp>
        <p:sp>
          <p:nvSpPr>
            <p:cNvPr id="26" name="Pie 25">
              <a:extLst>
                <a:ext uri="{FF2B5EF4-FFF2-40B4-BE49-F238E27FC236}">
                  <a16:creationId xmlns:a16="http://schemas.microsoft.com/office/drawing/2014/main" id="{CD03D3CC-EEEE-3186-0520-68F438A3F6CB}"/>
                </a:ext>
              </a:extLst>
            </p:cNvPr>
            <p:cNvSpPr/>
            <p:nvPr/>
          </p:nvSpPr>
          <p:spPr>
            <a:xfrm>
              <a:off x="359197" y="834271"/>
              <a:ext cx="5189457" cy="5241533"/>
            </a:xfrm>
            <a:prstGeom prst="pie">
              <a:avLst>
                <a:gd name="adj1" fmla="val 10785035"/>
                <a:gd name="adj2" fmla="val 162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E71B8"/>
                </a:solidFill>
              </a:endParaRPr>
            </a:p>
          </p:txBody>
        </p:sp>
        <p:sp>
          <p:nvSpPr>
            <p:cNvPr id="29" name="Oval 28">
              <a:extLst>
                <a:ext uri="{FF2B5EF4-FFF2-40B4-BE49-F238E27FC236}">
                  <a16:creationId xmlns:a16="http://schemas.microsoft.com/office/drawing/2014/main" id="{3117DA01-3F48-0983-A733-C90298E75F45}"/>
                </a:ext>
              </a:extLst>
            </p:cNvPr>
            <p:cNvSpPr/>
            <p:nvPr/>
          </p:nvSpPr>
          <p:spPr>
            <a:xfrm>
              <a:off x="1929142" y="2363508"/>
              <a:ext cx="2288379" cy="22788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TextBox 30">
            <a:extLst>
              <a:ext uri="{FF2B5EF4-FFF2-40B4-BE49-F238E27FC236}">
                <a16:creationId xmlns:a16="http://schemas.microsoft.com/office/drawing/2014/main" id="{2F7E1ADD-2DCC-E5F6-6190-1A0824BACD43}"/>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Institutional Framework </a:t>
            </a:r>
          </a:p>
        </p:txBody>
      </p:sp>
      <p:sp>
        <p:nvSpPr>
          <p:cNvPr id="32" name="TextBox 31">
            <a:extLst>
              <a:ext uri="{FF2B5EF4-FFF2-40B4-BE49-F238E27FC236}">
                <a16:creationId xmlns:a16="http://schemas.microsoft.com/office/drawing/2014/main" id="{8CF19BBB-0798-BDCE-A3C3-11E53215D93E}"/>
              </a:ext>
            </a:extLst>
          </p:cNvPr>
          <p:cNvSpPr txBox="1"/>
          <p:nvPr/>
        </p:nvSpPr>
        <p:spPr>
          <a:xfrm>
            <a:off x="-54962" y="1909286"/>
            <a:ext cx="4287794" cy="646331"/>
          </a:xfrm>
          <a:prstGeom prst="rect">
            <a:avLst/>
          </a:prstGeom>
          <a:noFill/>
        </p:spPr>
        <p:txBody>
          <a:bodyPr wrap="square" rtlCol="0">
            <a:spAutoFit/>
          </a:bodyPr>
          <a:lstStyle/>
          <a:p>
            <a:pPr algn="ctr"/>
            <a:r>
              <a:rPr lang="en-US" sz="3600" b="1" dirty="0">
                <a:solidFill>
                  <a:schemeClr val="bg1"/>
                </a:solidFill>
                <a:latin typeface="PT Sans" panose="020B0503020203020204" pitchFamily="34" charset="77"/>
              </a:rPr>
              <a:t>KLMC</a:t>
            </a:r>
          </a:p>
        </p:txBody>
      </p:sp>
      <p:sp>
        <p:nvSpPr>
          <p:cNvPr id="7" name="TextBox 6">
            <a:extLst>
              <a:ext uri="{FF2B5EF4-FFF2-40B4-BE49-F238E27FC236}">
                <a16:creationId xmlns:a16="http://schemas.microsoft.com/office/drawing/2014/main" id="{B41D4A8C-AF25-6656-1619-6E85E30C4074}"/>
              </a:ext>
            </a:extLst>
          </p:cNvPr>
          <p:cNvSpPr txBox="1"/>
          <p:nvPr/>
        </p:nvSpPr>
        <p:spPr>
          <a:xfrm>
            <a:off x="5287067" y="2879593"/>
            <a:ext cx="6400800" cy="2344231"/>
          </a:xfrm>
          <a:prstGeom prst="rect">
            <a:avLst/>
          </a:prstGeom>
          <a:noFill/>
        </p:spPr>
        <p:txBody>
          <a:bodyPr wrap="square">
            <a:spAutoFit/>
          </a:bodyPr>
          <a:lstStyle/>
          <a:p>
            <a:pPr marL="288925" lvl="3" indent="0">
              <a:lnSpc>
                <a:spcPts val="1000"/>
              </a:lnSpc>
              <a:buNone/>
            </a:pPr>
            <a:endParaRPr lang="en-US" sz="2300" dirty="0">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Operates landfills and treatment facilities including future regional sorting and treatment centers</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Ensures safe and environmentally sound disposal</a:t>
            </a:r>
          </a:p>
        </p:txBody>
      </p:sp>
    </p:spTree>
    <p:extLst>
      <p:ext uri="{BB962C8B-B14F-4D97-AF65-F5344CB8AC3E}">
        <p14:creationId xmlns:p14="http://schemas.microsoft.com/office/powerpoint/2010/main" val="8806961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BAE11-1E46-AF42-A614-3464766DA474}"/>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360005BC-7454-421B-E064-F6D1AF0722BB}"/>
              </a:ext>
            </a:extLst>
          </p:cNvPr>
          <p:cNvGrpSpPr/>
          <p:nvPr/>
        </p:nvGrpSpPr>
        <p:grpSpPr>
          <a:xfrm rot="18898855">
            <a:off x="-571293" y="1479658"/>
            <a:ext cx="5371573" cy="5350709"/>
            <a:chOff x="359197" y="834271"/>
            <a:chExt cx="5371573" cy="5350709"/>
          </a:xfrm>
          <a:solidFill>
            <a:schemeClr val="accent1">
              <a:lumMod val="40000"/>
              <a:lumOff val="60000"/>
            </a:schemeClr>
          </a:solidFill>
        </p:grpSpPr>
        <p:sp>
          <p:nvSpPr>
            <p:cNvPr id="23" name="Pie 22">
              <a:extLst>
                <a:ext uri="{FF2B5EF4-FFF2-40B4-BE49-F238E27FC236}">
                  <a16:creationId xmlns:a16="http://schemas.microsoft.com/office/drawing/2014/main" id="{A3508296-F37F-EBCE-A78F-D58575EAAC55}"/>
                </a:ext>
              </a:extLst>
            </p:cNvPr>
            <p:cNvSpPr/>
            <p:nvPr/>
          </p:nvSpPr>
          <p:spPr>
            <a:xfrm rot="16200000">
              <a:off x="385235" y="969485"/>
              <a:ext cx="5189457" cy="5241533"/>
            </a:xfrm>
            <a:prstGeom prst="pie">
              <a:avLst>
                <a:gd name="adj1" fmla="val 10785128"/>
                <a:gd name="adj2" fmla="val 16200000"/>
              </a:avLst>
            </a:prstGeom>
            <a:solidFill>
              <a:srgbClr val="478F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Pie 23">
              <a:extLst>
                <a:ext uri="{FF2B5EF4-FFF2-40B4-BE49-F238E27FC236}">
                  <a16:creationId xmlns:a16="http://schemas.microsoft.com/office/drawing/2014/main" id="{0AC89625-E26E-11E7-824F-B988A598F3FB}"/>
                </a:ext>
              </a:extLst>
            </p:cNvPr>
            <p:cNvSpPr/>
            <p:nvPr/>
          </p:nvSpPr>
          <p:spPr>
            <a:xfrm rot="10800000">
              <a:off x="541313" y="943446"/>
              <a:ext cx="5189457" cy="5241533"/>
            </a:xfrm>
            <a:prstGeom prst="pie">
              <a:avLst>
                <a:gd name="adj1" fmla="val 10785035"/>
                <a:gd name="adj2" fmla="val 16199999"/>
              </a:avLst>
            </a:prstGeom>
            <a:solidFill>
              <a:srgbClr val="709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Pie 24">
              <a:extLst>
                <a:ext uri="{FF2B5EF4-FFF2-40B4-BE49-F238E27FC236}">
                  <a16:creationId xmlns:a16="http://schemas.microsoft.com/office/drawing/2014/main" id="{6F4BCD15-CDF7-7C76-CC8C-30A3EBA935B9}"/>
                </a:ext>
              </a:extLst>
            </p:cNvPr>
            <p:cNvSpPr/>
            <p:nvPr/>
          </p:nvSpPr>
          <p:spPr>
            <a:xfrm rot="5400000">
              <a:off x="515275" y="808233"/>
              <a:ext cx="5189457" cy="5241533"/>
            </a:xfrm>
            <a:prstGeom prst="pie">
              <a:avLst>
                <a:gd name="adj1" fmla="val 10785035"/>
                <a:gd name="adj2" fmla="val 16200000"/>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60000"/>
                    <a:lumOff val="40000"/>
                  </a:schemeClr>
                </a:solidFill>
              </a:endParaRPr>
            </a:p>
          </p:txBody>
        </p:sp>
        <p:sp>
          <p:nvSpPr>
            <p:cNvPr id="26" name="Pie 25">
              <a:extLst>
                <a:ext uri="{FF2B5EF4-FFF2-40B4-BE49-F238E27FC236}">
                  <a16:creationId xmlns:a16="http://schemas.microsoft.com/office/drawing/2014/main" id="{4BF89322-0F71-810D-14C9-600CA51267F6}"/>
                </a:ext>
              </a:extLst>
            </p:cNvPr>
            <p:cNvSpPr/>
            <p:nvPr/>
          </p:nvSpPr>
          <p:spPr>
            <a:xfrm>
              <a:off x="359197" y="834271"/>
              <a:ext cx="5189457" cy="5241533"/>
            </a:xfrm>
            <a:prstGeom prst="pie">
              <a:avLst>
                <a:gd name="adj1" fmla="val 10785035"/>
                <a:gd name="adj2" fmla="val 162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E71B8"/>
                </a:solidFill>
              </a:endParaRPr>
            </a:p>
          </p:txBody>
        </p:sp>
        <p:sp>
          <p:nvSpPr>
            <p:cNvPr id="29" name="Oval 28">
              <a:extLst>
                <a:ext uri="{FF2B5EF4-FFF2-40B4-BE49-F238E27FC236}">
                  <a16:creationId xmlns:a16="http://schemas.microsoft.com/office/drawing/2014/main" id="{A72D7A75-9AC4-23C6-CD83-FE4B7BBDDD41}"/>
                </a:ext>
              </a:extLst>
            </p:cNvPr>
            <p:cNvSpPr/>
            <p:nvPr/>
          </p:nvSpPr>
          <p:spPr>
            <a:xfrm>
              <a:off x="1929142" y="2363508"/>
              <a:ext cx="2288379" cy="22788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TextBox 30">
            <a:extLst>
              <a:ext uri="{FF2B5EF4-FFF2-40B4-BE49-F238E27FC236}">
                <a16:creationId xmlns:a16="http://schemas.microsoft.com/office/drawing/2014/main" id="{D661A923-1351-B638-5D81-B4E338ACBC41}"/>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Institutional Framework </a:t>
            </a:r>
          </a:p>
        </p:txBody>
      </p:sp>
      <p:sp>
        <p:nvSpPr>
          <p:cNvPr id="32" name="TextBox 31">
            <a:extLst>
              <a:ext uri="{FF2B5EF4-FFF2-40B4-BE49-F238E27FC236}">
                <a16:creationId xmlns:a16="http://schemas.microsoft.com/office/drawing/2014/main" id="{F269C322-5F56-6825-33FF-996C387C359A}"/>
              </a:ext>
            </a:extLst>
          </p:cNvPr>
          <p:cNvSpPr txBox="1"/>
          <p:nvPr/>
        </p:nvSpPr>
        <p:spPr>
          <a:xfrm>
            <a:off x="-54962" y="1909286"/>
            <a:ext cx="4287794" cy="646331"/>
          </a:xfrm>
          <a:prstGeom prst="rect">
            <a:avLst/>
          </a:prstGeom>
          <a:noFill/>
        </p:spPr>
        <p:txBody>
          <a:bodyPr wrap="square" rtlCol="0">
            <a:spAutoFit/>
          </a:bodyPr>
          <a:lstStyle/>
          <a:p>
            <a:pPr algn="ctr"/>
            <a:r>
              <a:rPr lang="en-US" sz="3600" b="1" dirty="0">
                <a:solidFill>
                  <a:schemeClr val="bg1"/>
                </a:solidFill>
                <a:latin typeface="PT Sans" panose="020B0503020203020204" pitchFamily="34" charset="77"/>
              </a:rPr>
              <a:t>Municipalities</a:t>
            </a:r>
          </a:p>
        </p:txBody>
      </p:sp>
      <p:sp>
        <p:nvSpPr>
          <p:cNvPr id="7" name="TextBox 6">
            <a:extLst>
              <a:ext uri="{FF2B5EF4-FFF2-40B4-BE49-F238E27FC236}">
                <a16:creationId xmlns:a16="http://schemas.microsoft.com/office/drawing/2014/main" id="{D60C3FA7-0000-F3D9-E50B-472885C1EFF5}"/>
              </a:ext>
            </a:extLst>
          </p:cNvPr>
          <p:cNvSpPr txBox="1"/>
          <p:nvPr/>
        </p:nvSpPr>
        <p:spPr>
          <a:xfrm>
            <a:off x="5044102" y="1818083"/>
            <a:ext cx="6806620" cy="4467890"/>
          </a:xfrm>
          <a:prstGeom prst="rect">
            <a:avLst/>
          </a:prstGeom>
          <a:noFill/>
        </p:spPr>
        <p:txBody>
          <a:bodyPr wrap="square">
            <a:spAutoFit/>
          </a:bodyPr>
          <a:lstStyle/>
          <a:p>
            <a:pPr marL="288925" lvl="3" indent="0">
              <a:lnSpc>
                <a:spcPts val="1000"/>
              </a:lnSpc>
              <a:buNone/>
            </a:pPr>
            <a:endParaRPr lang="en-US" sz="2300" dirty="0">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Organize local waste collection and separate recycling streams (through regional or individual companies).</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Raise public awareness and improve local services (through regional or individual companies)</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Cooperate with other municipalities in shared waste zones</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 Municipalities through regional or individual companies manage sorting at the source.</a:t>
            </a:r>
          </a:p>
        </p:txBody>
      </p:sp>
    </p:spTree>
    <p:extLst>
      <p:ext uri="{BB962C8B-B14F-4D97-AF65-F5344CB8AC3E}">
        <p14:creationId xmlns:p14="http://schemas.microsoft.com/office/powerpoint/2010/main" val="3072240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108E-F390-F67E-D800-F21E00D72082}"/>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993F172E-C371-A96D-5E65-AA5B94058F69}"/>
              </a:ext>
            </a:extLst>
          </p:cNvPr>
          <p:cNvGrpSpPr/>
          <p:nvPr/>
        </p:nvGrpSpPr>
        <p:grpSpPr>
          <a:xfrm rot="2645398">
            <a:off x="-571293" y="1479658"/>
            <a:ext cx="5371573" cy="5350709"/>
            <a:chOff x="359197" y="834271"/>
            <a:chExt cx="5371573" cy="5350709"/>
          </a:xfrm>
          <a:solidFill>
            <a:schemeClr val="accent1">
              <a:lumMod val="40000"/>
              <a:lumOff val="60000"/>
            </a:schemeClr>
          </a:solidFill>
        </p:grpSpPr>
        <p:sp>
          <p:nvSpPr>
            <p:cNvPr id="23" name="Pie 22">
              <a:extLst>
                <a:ext uri="{FF2B5EF4-FFF2-40B4-BE49-F238E27FC236}">
                  <a16:creationId xmlns:a16="http://schemas.microsoft.com/office/drawing/2014/main" id="{F70B7DC2-461D-E0CB-E773-56C6040AEF0F}"/>
                </a:ext>
              </a:extLst>
            </p:cNvPr>
            <p:cNvSpPr/>
            <p:nvPr/>
          </p:nvSpPr>
          <p:spPr>
            <a:xfrm rot="16200000">
              <a:off x="385235" y="969485"/>
              <a:ext cx="5189457" cy="5241533"/>
            </a:xfrm>
            <a:prstGeom prst="pie">
              <a:avLst>
                <a:gd name="adj1" fmla="val 10785128"/>
                <a:gd name="adj2" fmla="val 16200000"/>
              </a:avLst>
            </a:prstGeom>
            <a:solidFill>
              <a:srgbClr val="478F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Pie 23">
              <a:extLst>
                <a:ext uri="{FF2B5EF4-FFF2-40B4-BE49-F238E27FC236}">
                  <a16:creationId xmlns:a16="http://schemas.microsoft.com/office/drawing/2014/main" id="{7CE1BE4B-711B-8082-FE39-33AC2D59D4C9}"/>
                </a:ext>
              </a:extLst>
            </p:cNvPr>
            <p:cNvSpPr/>
            <p:nvPr/>
          </p:nvSpPr>
          <p:spPr>
            <a:xfrm rot="10800000">
              <a:off x="541313" y="943446"/>
              <a:ext cx="5189457" cy="5241533"/>
            </a:xfrm>
            <a:prstGeom prst="pie">
              <a:avLst>
                <a:gd name="adj1" fmla="val 10785035"/>
                <a:gd name="adj2" fmla="val 16199999"/>
              </a:avLst>
            </a:prstGeom>
            <a:solidFill>
              <a:srgbClr val="709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Pie 24">
              <a:extLst>
                <a:ext uri="{FF2B5EF4-FFF2-40B4-BE49-F238E27FC236}">
                  <a16:creationId xmlns:a16="http://schemas.microsoft.com/office/drawing/2014/main" id="{9FFD5E65-06A0-E3CA-B466-8118644FEAE4}"/>
                </a:ext>
              </a:extLst>
            </p:cNvPr>
            <p:cNvSpPr/>
            <p:nvPr/>
          </p:nvSpPr>
          <p:spPr>
            <a:xfrm rot="5400000">
              <a:off x="515275" y="808233"/>
              <a:ext cx="5189457" cy="5241533"/>
            </a:xfrm>
            <a:prstGeom prst="pie">
              <a:avLst>
                <a:gd name="adj1" fmla="val 10785035"/>
                <a:gd name="adj2" fmla="val 16200000"/>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60000"/>
                    <a:lumOff val="40000"/>
                  </a:schemeClr>
                </a:solidFill>
              </a:endParaRPr>
            </a:p>
          </p:txBody>
        </p:sp>
        <p:sp>
          <p:nvSpPr>
            <p:cNvPr id="26" name="Pie 25">
              <a:extLst>
                <a:ext uri="{FF2B5EF4-FFF2-40B4-BE49-F238E27FC236}">
                  <a16:creationId xmlns:a16="http://schemas.microsoft.com/office/drawing/2014/main" id="{5A76ACB3-D6A1-59CD-90F0-8CFFE467E095}"/>
                </a:ext>
              </a:extLst>
            </p:cNvPr>
            <p:cNvSpPr/>
            <p:nvPr/>
          </p:nvSpPr>
          <p:spPr>
            <a:xfrm>
              <a:off x="359197" y="834271"/>
              <a:ext cx="5189457" cy="5241533"/>
            </a:xfrm>
            <a:prstGeom prst="pie">
              <a:avLst>
                <a:gd name="adj1" fmla="val 10785035"/>
                <a:gd name="adj2" fmla="val 162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E71B8"/>
                </a:solidFill>
              </a:endParaRPr>
            </a:p>
          </p:txBody>
        </p:sp>
        <p:sp>
          <p:nvSpPr>
            <p:cNvPr id="29" name="Oval 28">
              <a:extLst>
                <a:ext uri="{FF2B5EF4-FFF2-40B4-BE49-F238E27FC236}">
                  <a16:creationId xmlns:a16="http://schemas.microsoft.com/office/drawing/2014/main" id="{A981A0A9-AB7E-9482-1C14-21368A7813AD}"/>
                </a:ext>
              </a:extLst>
            </p:cNvPr>
            <p:cNvSpPr/>
            <p:nvPr/>
          </p:nvSpPr>
          <p:spPr>
            <a:xfrm>
              <a:off x="1929142" y="2363508"/>
              <a:ext cx="2288379" cy="22788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TextBox 30">
            <a:extLst>
              <a:ext uri="{FF2B5EF4-FFF2-40B4-BE49-F238E27FC236}">
                <a16:creationId xmlns:a16="http://schemas.microsoft.com/office/drawing/2014/main" id="{6BA78622-C6C6-8C68-2089-AC65433FAC6D}"/>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Institutional Framework </a:t>
            </a:r>
          </a:p>
        </p:txBody>
      </p:sp>
      <p:sp>
        <p:nvSpPr>
          <p:cNvPr id="32" name="TextBox 31">
            <a:extLst>
              <a:ext uri="{FF2B5EF4-FFF2-40B4-BE49-F238E27FC236}">
                <a16:creationId xmlns:a16="http://schemas.microsoft.com/office/drawing/2014/main" id="{869BF0E5-551C-7C53-025B-31E6488F37C0}"/>
              </a:ext>
            </a:extLst>
          </p:cNvPr>
          <p:cNvSpPr txBox="1"/>
          <p:nvPr/>
        </p:nvSpPr>
        <p:spPr>
          <a:xfrm>
            <a:off x="-54962" y="1909286"/>
            <a:ext cx="4287794" cy="646331"/>
          </a:xfrm>
          <a:prstGeom prst="rect">
            <a:avLst/>
          </a:prstGeom>
          <a:noFill/>
        </p:spPr>
        <p:txBody>
          <a:bodyPr wrap="square" rtlCol="0">
            <a:spAutoFit/>
          </a:bodyPr>
          <a:lstStyle/>
          <a:p>
            <a:pPr algn="ctr"/>
            <a:r>
              <a:rPr lang="en-US" sz="3600" b="1" dirty="0">
                <a:solidFill>
                  <a:schemeClr val="bg1"/>
                </a:solidFill>
                <a:latin typeface="PT Sans" panose="020B0503020203020204" pitchFamily="34" charset="77"/>
              </a:rPr>
              <a:t>Private Sector</a:t>
            </a:r>
          </a:p>
        </p:txBody>
      </p:sp>
      <p:sp>
        <p:nvSpPr>
          <p:cNvPr id="7" name="TextBox 6">
            <a:extLst>
              <a:ext uri="{FF2B5EF4-FFF2-40B4-BE49-F238E27FC236}">
                <a16:creationId xmlns:a16="http://schemas.microsoft.com/office/drawing/2014/main" id="{C3A99BD3-7A0D-902E-6FB7-11453EE273B2}"/>
              </a:ext>
            </a:extLst>
          </p:cNvPr>
          <p:cNvSpPr txBox="1"/>
          <p:nvPr/>
        </p:nvSpPr>
        <p:spPr>
          <a:xfrm>
            <a:off x="4996244" y="1466330"/>
            <a:ext cx="6883273" cy="4821833"/>
          </a:xfrm>
          <a:prstGeom prst="rect">
            <a:avLst/>
          </a:prstGeom>
          <a:noFill/>
        </p:spPr>
        <p:txBody>
          <a:bodyPr wrap="square">
            <a:spAutoFit/>
          </a:bodyPr>
          <a:lstStyle/>
          <a:p>
            <a:pPr marL="288925" lvl="3" indent="0">
              <a:lnSpc>
                <a:spcPts val="1000"/>
              </a:lnSpc>
              <a:buNone/>
            </a:pPr>
            <a:endParaRPr lang="en-US" sz="2300" dirty="0">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Producers and companies will take responsibility for the waste their products create, through EPR Schemes (</a:t>
            </a:r>
            <a:r>
              <a:rPr lang="en-US" sz="2300" dirty="0" err="1">
                <a:solidFill>
                  <a:schemeClr val="tx1"/>
                </a:solidFill>
                <a:latin typeface="PT Sans" panose="020B0503020203020204" pitchFamily="34" charset="77"/>
              </a:rPr>
              <a:t>e.g</a:t>
            </a:r>
            <a:r>
              <a:rPr lang="en-US" sz="2300" dirty="0">
                <a:solidFill>
                  <a:schemeClr val="tx1"/>
                </a:solidFill>
                <a:latin typeface="PT Sans" panose="020B0503020203020204" pitchFamily="34" charset="77"/>
              </a:rPr>
              <a:t>: packaging, electronics, batteries) </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Recycling companies and PROs will manage collection, sorting and recycling </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Investors and innovators can develop new recycling plants, repair and reuse businesses, and digital waste tracking services </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PPPs are preferred to engage experienced EU to build modern waste and recycling infrastructure</a:t>
            </a:r>
          </a:p>
        </p:txBody>
      </p:sp>
    </p:spTree>
    <p:extLst>
      <p:ext uri="{BB962C8B-B14F-4D97-AF65-F5344CB8AC3E}">
        <p14:creationId xmlns:p14="http://schemas.microsoft.com/office/powerpoint/2010/main" val="17939615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E3DCA-8259-04D9-CF92-CF88784E2546}"/>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D716A7A1-6882-7BDA-B004-283DAF4FEFEE}"/>
              </a:ext>
            </a:extLst>
          </p:cNvPr>
          <p:cNvGrpSpPr/>
          <p:nvPr/>
        </p:nvGrpSpPr>
        <p:grpSpPr>
          <a:xfrm rot="8126646">
            <a:off x="-571293" y="1479658"/>
            <a:ext cx="5371573" cy="5350709"/>
            <a:chOff x="359197" y="834271"/>
            <a:chExt cx="5371573" cy="5350709"/>
          </a:xfrm>
          <a:solidFill>
            <a:schemeClr val="accent1">
              <a:lumMod val="40000"/>
              <a:lumOff val="60000"/>
            </a:schemeClr>
          </a:solidFill>
        </p:grpSpPr>
        <p:sp>
          <p:nvSpPr>
            <p:cNvPr id="23" name="Pie 22">
              <a:extLst>
                <a:ext uri="{FF2B5EF4-FFF2-40B4-BE49-F238E27FC236}">
                  <a16:creationId xmlns:a16="http://schemas.microsoft.com/office/drawing/2014/main" id="{6DF43770-0CE9-576B-9822-96A0B6D4B885}"/>
                </a:ext>
              </a:extLst>
            </p:cNvPr>
            <p:cNvSpPr/>
            <p:nvPr/>
          </p:nvSpPr>
          <p:spPr>
            <a:xfrm rot="16200000">
              <a:off x="385235" y="969485"/>
              <a:ext cx="5189457" cy="5241533"/>
            </a:xfrm>
            <a:prstGeom prst="pie">
              <a:avLst>
                <a:gd name="adj1" fmla="val 10785128"/>
                <a:gd name="adj2" fmla="val 16200000"/>
              </a:avLst>
            </a:prstGeom>
            <a:solidFill>
              <a:srgbClr val="478F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Pie 23">
              <a:extLst>
                <a:ext uri="{FF2B5EF4-FFF2-40B4-BE49-F238E27FC236}">
                  <a16:creationId xmlns:a16="http://schemas.microsoft.com/office/drawing/2014/main" id="{B96C7277-45B2-D02F-1E30-B7DAA33B4984}"/>
                </a:ext>
              </a:extLst>
            </p:cNvPr>
            <p:cNvSpPr/>
            <p:nvPr/>
          </p:nvSpPr>
          <p:spPr>
            <a:xfrm rot="10800000">
              <a:off x="541313" y="943446"/>
              <a:ext cx="5189457" cy="5241533"/>
            </a:xfrm>
            <a:prstGeom prst="pie">
              <a:avLst>
                <a:gd name="adj1" fmla="val 10785035"/>
                <a:gd name="adj2" fmla="val 16199999"/>
              </a:avLst>
            </a:prstGeom>
            <a:solidFill>
              <a:srgbClr val="709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Pie 24">
              <a:extLst>
                <a:ext uri="{FF2B5EF4-FFF2-40B4-BE49-F238E27FC236}">
                  <a16:creationId xmlns:a16="http://schemas.microsoft.com/office/drawing/2014/main" id="{8EFBE04A-EC09-AB48-E3CF-A12A4367989F}"/>
                </a:ext>
              </a:extLst>
            </p:cNvPr>
            <p:cNvSpPr/>
            <p:nvPr/>
          </p:nvSpPr>
          <p:spPr>
            <a:xfrm rot="5400000">
              <a:off x="515275" y="808233"/>
              <a:ext cx="5189457" cy="5241533"/>
            </a:xfrm>
            <a:prstGeom prst="pie">
              <a:avLst>
                <a:gd name="adj1" fmla="val 10785035"/>
                <a:gd name="adj2" fmla="val 16200000"/>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60000"/>
                    <a:lumOff val="40000"/>
                  </a:schemeClr>
                </a:solidFill>
              </a:endParaRPr>
            </a:p>
          </p:txBody>
        </p:sp>
        <p:sp>
          <p:nvSpPr>
            <p:cNvPr id="26" name="Pie 25">
              <a:extLst>
                <a:ext uri="{FF2B5EF4-FFF2-40B4-BE49-F238E27FC236}">
                  <a16:creationId xmlns:a16="http://schemas.microsoft.com/office/drawing/2014/main" id="{FB8DBD54-4E46-5B5C-E397-E35B505A730A}"/>
                </a:ext>
              </a:extLst>
            </p:cNvPr>
            <p:cNvSpPr/>
            <p:nvPr/>
          </p:nvSpPr>
          <p:spPr>
            <a:xfrm>
              <a:off x="359197" y="834271"/>
              <a:ext cx="5189457" cy="5241533"/>
            </a:xfrm>
            <a:prstGeom prst="pie">
              <a:avLst>
                <a:gd name="adj1" fmla="val 10785035"/>
                <a:gd name="adj2" fmla="val 162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E71B8"/>
                </a:solidFill>
              </a:endParaRPr>
            </a:p>
          </p:txBody>
        </p:sp>
        <p:sp>
          <p:nvSpPr>
            <p:cNvPr id="29" name="Oval 28">
              <a:extLst>
                <a:ext uri="{FF2B5EF4-FFF2-40B4-BE49-F238E27FC236}">
                  <a16:creationId xmlns:a16="http://schemas.microsoft.com/office/drawing/2014/main" id="{B6BC1C2E-1F78-C038-CED5-5BF21AE17CEA}"/>
                </a:ext>
              </a:extLst>
            </p:cNvPr>
            <p:cNvSpPr/>
            <p:nvPr/>
          </p:nvSpPr>
          <p:spPr>
            <a:xfrm>
              <a:off x="1929142" y="2363508"/>
              <a:ext cx="2288379" cy="22788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TextBox 30">
            <a:extLst>
              <a:ext uri="{FF2B5EF4-FFF2-40B4-BE49-F238E27FC236}">
                <a16:creationId xmlns:a16="http://schemas.microsoft.com/office/drawing/2014/main" id="{0648B8FD-CAC7-DF92-E054-4F82D2460158}"/>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Institutional Framework </a:t>
            </a:r>
          </a:p>
        </p:txBody>
      </p:sp>
      <p:sp>
        <p:nvSpPr>
          <p:cNvPr id="32" name="TextBox 31">
            <a:extLst>
              <a:ext uri="{FF2B5EF4-FFF2-40B4-BE49-F238E27FC236}">
                <a16:creationId xmlns:a16="http://schemas.microsoft.com/office/drawing/2014/main" id="{C24642DB-3505-2AFE-DB30-B37408628FC4}"/>
              </a:ext>
            </a:extLst>
          </p:cNvPr>
          <p:cNvSpPr txBox="1"/>
          <p:nvPr/>
        </p:nvSpPr>
        <p:spPr>
          <a:xfrm>
            <a:off x="-56825" y="1663589"/>
            <a:ext cx="4287794" cy="1200329"/>
          </a:xfrm>
          <a:prstGeom prst="rect">
            <a:avLst/>
          </a:prstGeom>
          <a:noFill/>
        </p:spPr>
        <p:txBody>
          <a:bodyPr wrap="square" rtlCol="0">
            <a:spAutoFit/>
          </a:bodyPr>
          <a:lstStyle/>
          <a:p>
            <a:pPr algn="ctr"/>
            <a:r>
              <a:rPr lang="en-US" sz="3600" b="1" dirty="0">
                <a:solidFill>
                  <a:schemeClr val="bg1"/>
                </a:solidFill>
                <a:latin typeface="PT Sans" panose="020B0503020203020204" pitchFamily="34" charset="77"/>
              </a:rPr>
              <a:t>Hybrid </a:t>
            </a:r>
            <a:br>
              <a:rPr lang="en-US" sz="3600" b="1" dirty="0">
                <a:solidFill>
                  <a:schemeClr val="bg1"/>
                </a:solidFill>
                <a:latin typeface="PT Sans" panose="020B0503020203020204" pitchFamily="34" charset="77"/>
              </a:rPr>
            </a:br>
            <a:r>
              <a:rPr lang="en-US" sz="3600" b="1" dirty="0">
                <a:solidFill>
                  <a:schemeClr val="bg1"/>
                </a:solidFill>
                <a:latin typeface="PT Sans" panose="020B0503020203020204" pitchFamily="34" charset="77"/>
              </a:rPr>
              <a:t>Regulator</a:t>
            </a:r>
          </a:p>
        </p:txBody>
      </p:sp>
      <p:sp>
        <p:nvSpPr>
          <p:cNvPr id="5" name="TextBox 4">
            <a:extLst>
              <a:ext uri="{FF2B5EF4-FFF2-40B4-BE49-F238E27FC236}">
                <a16:creationId xmlns:a16="http://schemas.microsoft.com/office/drawing/2014/main" id="{41111ED5-B96C-3F96-E539-12F0E0B76B4D}"/>
              </a:ext>
            </a:extLst>
          </p:cNvPr>
          <p:cNvSpPr txBox="1"/>
          <p:nvPr/>
        </p:nvSpPr>
        <p:spPr>
          <a:xfrm>
            <a:off x="5277875" y="3369435"/>
            <a:ext cx="6400800" cy="928459"/>
          </a:xfrm>
          <a:prstGeom prst="rect">
            <a:avLst/>
          </a:prstGeom>
          <a:noFill/>
        </p:spPr>
        <p:txBody>
          <a:bodyPr wrap="square">
            <a:spAutoFit/>
          </a:bodyPr>
          <a:lstStyle/>
          <a:p>
            <a:pPr marL="288925" lvl="3" indent="0">
              <a:lnSpc>
                <a:spcPts val="1000"/>
              </a:lnSpc>
              <a:buNone/>
            </a:pPr>
            <a:endParaRPr lang="en-US" sz="2300" dirty="0">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For tariff setting, performance monitoring and dispute resolution</a:t>
            </a:r>
          </a:p>
        </p:txBody>
      </p:sp>
    </p:spTree>
    <p:extLst>
      <p:ext uri="{BB962C8B-B14F-4D97-AF65-F5344CB8AC3E}">
        <p14:creationId xmlns:p14="http://schemas.microsoft.com/office/powerpoint/2010/main" val="2740969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FC8EA-17E0-CEA6-275F-F9A71421F810}"/>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E48E663E-3B8C-38BB-0A20-8ED7C9108201}"/>
              </a:ext>
            </a:extLst>
          </p:cNvPr>
          <p:cNvGrpSpPr/>
          <p:nvPr/>
        </p:nvGrpSpPr>
        <p:grpSpPr>
          <a:xfrm rot="13500110">
            <a:off x="-571293" y="1479658"/>
            <a:ext cx="5371573" cy="5350709"/>
            <a:chOff x="359197" y="834271"/>
            <a:chExt cx="5371573" cy="5350709"/>
          </a:xfrm>
          <a:solidFill>
            <a:schemeClr val="accent1">
              <a:lumMod val="40000"/>
              <a:lumOff val="60000"/>
            </a:schemeClr>
          </a:solidFill>
        </p:grpSpPr>
        <p:sp>
          <p:nvSpPr>
            <p:cNvPr id="23" name="Pie 22">
              <a:extLst>
                <a:ext uri="{FF2B5EF4-FFF2-40B4-BE49-F238E27FC236}">
                  <a16:creationId xmlns:a16="http://schemas.microsoft.com/office/drawing/2014/main" id="{E5ADA073-A084-359B-C535-F307EF88189D}"/>
                </a:ext>
              </a:extLst>
            </p:cNvPr>
            <p:cNvSpPr/>
            <p:nvPr/>
          </p:nvSpPr>
          <p:spPr>
            <a:xfrm rot="16200000">
              <a:off x="385235" y="969485"/>
              <a:ext cx="5189457" cy="5241533"/>
            </a:xfrm>
            <a:prstGeom prst="pie">
              <a:avLst>
                <a:gd name="adj1" fmla="val 10785128"/>
                <a:gd name="adj2" fmla="val 16200000"/>
              </a:avLst>
            </a:prstGeom>
            <a:solidFill>
              <a:srgbClr val="478FC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Pie 23">
              <a:extLst>
                <a:ext uri="{FF2B5EF4-FFF2-40B4-BE49-F238E27FC236}">
                  <a16:creationId xmlns:a16="http://schemas.microsoft.com/office/drawing/2014/main" id="{D95E32A1-14E6-AD4A-234F-EDDDCFB61F6A}"/>
                </a:ext>
              </a:extLst>
            </p:cNvPr>
            <p:cNvSpPr/>
            <p:nvPr/>
          </p:nvSpPr>
          <p:spPr>
            <a:xfrm rot="10800000">
              <a:off x="541313" y="943446"/>
              <a:ext cx="5189457" cy="5241533"/>
            </a:xfrm>
            <a:prstGeom prst="pie">
              <a:avLst>
                <a:gd name="adj1" fmla="val 10785035"/>
                <a:gd name="adj2" fmla="val 16199999"/>
              </a:avLst>
            </a:prstGeom>
            <a:solidFill>
              <a:srgbClr val="709F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Pie 24">
              <a:extLst>
                <a:ext uri="{FF2B5EF4-FFF2-40B4-BE49-F238E27FC236}">
                  <a16:creationId xmlns:a16="http://schemas.microsoft.com/office/drawing/2014/main" id="{8767C4D8-550D-CA5E-C511-9C69BF6B1DE8}"/>
                </a:ext>
              </a:extLst>
            </p:cNvPr>
            <p:cNvSpPr/>
            <p:nvPr/>
          </p:nvSpPr>
          <p:spPr>
            <a:xfrm rot="5400000">
              <a:off x="515275" y="808233"/>
              <a:ext cx="5189457" cy="5241533"/>
            </a:xfrm>
            <a:prstGeom prst="pie">
              <a:avLst>
                <a:gd name="adj1" fmla="val 10785035"/>
                <a:gd name="adj2" fmla="val 16200000"/>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lumMod val="60000"/>
                    <a:lumOff val="40000"/>
                  </a:schemeClr>
                </a:solidFill>
              </a:endParaRPr>
            </a:p>
          </p:txBody>
        </p:sp>
        <p:sp>
          <p:nvSpPr>
            <p:cNvPr id="26" name="Pie 25">
              <a:extLst>
                <a:ext uri="{FF2B5EF4-FFF2-40B4-BE49-F238E27FC236}">
                  <a16:creationId xmlns:a16="http://schemas.microsoft.com/office/drawing/2014/main" id="{B8FCEC54-FDF4-F6F1-927B-5F83141BB6B6}"/>
                </a:ext>
              </a:extLst>
            </p:cNvPr>
            <p:cNvSpPr/>
            <p:nvPr/>
          </p:nvSpPr>
          <p:spPr>
            <a:xfrm>
              <a:off x="359197" y="834271"/>
              <a:ext cx="5189457" cy="5241533"/>
            </a:xfrm>
            <a:prstGeom prst="pie">
              <a:avLst>
                <a:gd name="adj1" fmla="val 10785035"/>
                <a:gd name="adj2" fmla="val 1620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1E71B8"/>
                </a:solidFill>
              </a:endParaRPr>
            </a:p>
          </p:txBody>
        </p:sp>
        <p:sp>
          <p:nvSpPr>
            <p:cNvPr id="29" name="Oval 28">
              <a:extLst>
                <a:ext uri="{FF2B5EF4-FFF2-40B4-BE49-F238E27FC236}">
                  <a16:creationId xmlns:a16="http://schemas.microsoft.com/office/drawing/2014/main" id="{0D8A988F-07FD-CBDE-42E9-06BF95C22C31}"/>
                </a:ext>
              </a:extLst>
            </p:cNvPr>
            <p:cNvSpPr/>
            <p:nvPr/>
          </p:nvSpPr>
          <p:spPr>
            <a:xfrm>
              <a:off x="1929142" y="2363508"/>
              <a:ext cx="2288379" cy="227889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TextBox 30">
            <a:extLst>
              <a:ext uri="{FF2B5EF4-FFF2-40B4-BE49-F238E27FC236}">
                <a16:creationId xmlns:a16="http://schemas.microsoft.com/office/drawing/2014/main" id="{D275B25C-BA29-195E-3475-B37C692AD0C3}"/>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Institutional Framework </a:t>
            </a:r>
          </a:p>
        </p:txBody>
      </p:sp>
      <p:sp>
        <p:nvSpPr>
          <p:cNvPr id="32" name="TextBox 31">
            <a:extLst>
              <a:ext uri="{FF2B5EF4-FFF2-40B4-BE49-F238E27FC236}">
                <a16:creationId xmlns:a16="http://schemas.microsoft.com/office/drawing/2014/main" id="{9057B1DB-7474-AC0A-C510-206B0DBF9D1A}"/>
              </a:ext>
            </a:extLst>
          </p:cNvPr>
          <p:cNvSpPr txBox="1"/>
          <p:nvPr/>
        </p:nvSpPr>
        <p:spPr>
          <a:xfrm>
            <a:off x="-56825" y="1663589"/>
            <a:ext cx="4287794" cy="1200329"/>
          </a:xfrm>
          <a:prstGeom prst="rect">
            <a:avLst/>
          </a:prstGeom>
          <a:noFill/>
        </p:spPr>
        <p:txBody>
          <a:bodyPr wrap="square" rtlCol="0">
            <a:spAutoFit/>
          </a:bodyPr>
          <a:lstStyle/>
          <a:p>
            <a:pPr algn="ctr"/>
            <a:r>
              <a:rPr lang="en-US" sz="3600" b="1" dirty="0">
                <a:solidFill>
                  <a:schemeClr val="bg1"/>
                </a:solidFill>
                <a:latin typeface="PT Sans" panose="020B0503020203020204" pitchFamily="34" charset="77"/>
              </a:rPr>
              <a:t>Cross-Sector Coordination</a:t>
            </a:r>
          </a:p>
        </p:txBody>
      </p:sp>
      <p:sp>
        <p:nvSpPr>
          <p:cNvPr id="6" name="TextBox 5">
            <a:extLst>
              <a:ext uri="{FF2B5EF4-FFF2-40B4-BE49-F238E27FC236}">
                <a16:creationId xmlns:a16="http://schemas.microsoft.com/office/drawing/2014/main" id="{07066827-9D97-1436-F388-1C55A4B0C4B0}"/>
              </a:ext>
            </a:extLst>
          </p:cNvPr>
          <p:cNvSpPr txBox="1"/>
          <p:nvPr/>
        </p:nvSpPr>
        <p:spPr>
          <a:xfrm>
            <a:off x="5369344" y="2877330"/>
            <a:ext cx="6400800" cy="1636345"/>
          </a:xfrm>
          <a:prstGeom prst="rect">
            <a:avLst/>
          </a:prstGeom>
          <a:noFill/>
        </p:spPr>
        <p:txBody>
          <a:bodyPr wrap="square">
            <a:spAutoFit/>
          </a:bodyPr>
          <a:lstStyle/>
          <a:p>
            <a:pPr marL="288925" lvl="3" indent="0">
              <a:lnSpc>
                <a:spcPts val="1000"/>
              </a:lnSpc>
              <a:buNone/>
            </a:pPr>
            <a:endParaRPr lang="en-US" sz="2300" dirty="0">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Coordinates policies and investments</a:t>
            </a:r>
            <a:br>
              <a:rPr lang="en-US" sz="2300" dirty="0">
                <a:solidFill>
                  <a:schemeClr val="tx1"/>
                </a:solidFill>
                <a:latin typeface="PT Sans" panose="020B0503020203020204" pitchFamily="34" charset="77"/>
              </a:rPr>
            </a:br>
            <a:endParaRPr lang="en-US" sz="2300" dirty="0">
              <a:solidFill>
                <a:schemeClr val="tx1"/>
              </a:solidFill>
              <a:latin typeface="PT Sans" panose="020B0503020203020204" pitchFamily="34" charset="77"/>
            </a:endParaRPr>
          </a:p>
          <a:p>
            <a:pPr marL="285750" indent="-285750">
              <a:buFont typeface="Arial" panose="020B0604020202020204" pitchFamily="34" charset="0"/>
              <a:buChar char="•"/>
            </a:pPr>
            <a:r>
              <a:rPr lang="en-US" sz="2300" dirty="0">
                <a:solidFill>
                  <a:schemeClr val="tx1"/>
                </a:solidFill>
                <a:latin typeface="PT Sans" panose="020B0503020203020204" pitchFamily="34" charset="77"/>
              </a:rPr>
              <a:t>Includes central and local institutions, private sector, civil society and donors</a:t>
            </a:r>
          </a:p>
        </p:txBody>
      </p:sp>
    </p:spTree>
    <p:extLst>
      <p:ext uri="{BB962C8B-B14F-4D97-AF65-F5344CB8AC3E}">
        <p14:creationId xmlns:p14="http://schemas.microsoft.com/office/powerpoint/2010/main" val="1555120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BDD78-E6F4-F74D-0314-BA5F1D09E1FF}"/>
            </a:ext>
          </a:extLst>
        </p:cNvPr>
        <p:cNvGrpSpPr/>
        <p:nvPr/>
      </p:nvGrpSpPr>
      <p:grpSpPr>
        <a:xfrm>
          <a:off x="0" y="0"/>
          <a:ext cx="0" cy="0"/>
          <a:chOff x="0" y="0"/>
          <a:chExt cx="0" cy="0"/>
        </a:xfrm>
      </p:grpSpPr>
      <p:sp>
        <p:nvSpPr>
          <p:cNvPr id="2" name="Rectangle: Rounded Corners 136">
            <a:extLst>
              <a:ext uri="{FF2B5EF4-FFF2-40B4-BE49-F238E27FC236}">
                <a16:creationId xmlns:a16="http://schemas.microsoft.com/office/drawing/2014/main" id="{8A31BF03-3030-53C4-ED0E-B3A78B5B0C50}"/>
              </a:ext>
            </a:extLst>
          </p:cNvPr>
          <p:cNvSpPr/>
          <p:nvPr/>
        </p:nvSpPr>
        <p:spPr>
          <a:xfrm>
            <a:off x="341069" y="713532"/>
            <a:ext cx="2530763" cy="2018948"/>
          </a:xfrm>
          <a:prstGeom prst="roundRect">
            <a:avLst/>
          </a:prstGeom>
          <a:noFill/>
          <a:ln w="19050">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3" name="Picture 2" descr="A black background with a black square&#10;&#10;Description automatically generated with medium confidence">
            <a:extLst>
              <a:ext uri="{FF2B5EF4-FFF2-40B4-BE49-F238E27FC236}">
                <a16:creationId xmlns:a16="http://schemas.microsoft.com/office/drawing/2014/main" id="{6125B387-4A8C-4B66-8AF9-FA1B7DFC602B}"/>
              </a:ext>
            </a:extLst>
          </p:cNvPr>
          <p:cNvPicPr>
            <a:picLocks noChangeAspect="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512029" y="1365261"/>
            <a:ext cx="425007" cy="425007"/>
          </a:xfrm>
          <a:prstGeom prst="rect">
            <a:avLst/>
          </a:prstGeom>
        </p:spPr>
      </p:pic>
      <p:pic>
        <p:nvPicPr>
          <p:cNvPr id="4" name="Picture 3" descr="A black background with a black square&#10;&#10;Description automatically generated with medium confidence">
            <a:extLst>
              <a:ext uri="{FF2B5EF4-FFF2-40B4-BE49-F238E27FC236}">
                <a16:creationId xmlns:a16="http://schemas.microsoft.com/office/drawing/2014/main" id="{F6EA5AA0-C246-078B-5DF7-BECF17267DF8}"/>
              </a:ext>
            </a:extLst>
          </p:cNvPr>
          <p:cNvPicPr>
            <a:picLocks noChangeAspect="1"/>
          </p:cNvPicPr>
          <p:nvPr/>
        </p:nvPicPr>
        <p:blipFill>
          <a:blip r:embed="rId3">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050873" y="1365262"/>
            <a:ext cx="425006" cy="425006"/>
          </a:xfrm>
          <a:prstGeom prst="rect">
            <a:avLst/>
          </a:prstGeom>
        </p:spPr>
      </p:pic>
      <p:pic>
        <p:nvPicPr>
          <p:cNvPr id="5" name="Picture 4" descr="A black background with a black square&#10;&#10;Description automatically generated with medium confidence">
            <a:extLst>
              <a:ext uri="{FF2B5EF4-FFF2-40B4-BE49-F238E27FC236}">
                <a16:creationId xmlns:a16="http://schemas.microsoft.com/office/drawing/2014/main" id="{8C384CFC-FAF3-797E-7C7B-054D364F7B89}"/>
              </a:ext>
            </a:extLst>
          </p:cNvPr>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606450" y="1380450"/>
            <a:ext cx="425007" cy="425007"/>
          </a:xfrm>
          <a:prstGeom prst="rect">
            <a:avLst/>
          </a:prstGeom>
        </p:spPr>
      </p:pic>
      <p:pic>
        <p:nvPicPr>
          <p:cNvPr id="6" name="Picture 5" descr="A black background with a black square&#10;&#10;Description automatically generated with medium confidence">
            <a:extLst>
              <a:ext uri="{FF2B5EF4-FFF2-40B4-BE49-F238E27FC236}">
                <a16:creationId xmlns:a16="http://schemas.microsoft.com/office/drawing/2014/main" id="{F27F3017-4F66-6C76-D3A8-B602A505BF95}"/>
              </a:ext>
            </a:extLst>
          </p:cNvPr>
          <p:cNvPicPr>
            <a:picLocks noChangeAspect="1"/>
          </p:cNvPicPr>
          <p:nvPr/>
        </p:nvPicPr>
        <p:blipFill>
          <a:blip r:embed="rId4">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457040" y="2211420"/>
            <a:ext cx="425006" cy="425006"/>
          </a:xfrm>
          <a:prstGeom prst="rect">
            <a:avLst/>
          </a:prstGeom>
        </p:spPr>
      </p:pic>
      <p:pic>
        <p:nvPicPr>
          <p:cNvPr id="7" name="Picture 6" descr="A black background with a black square&#10;&#10;Description automatically generated with medium confidence">
            <a:extLst>
              <a:ext uri="{FF2B5EF4-FFF2-40B4-BE49-F238E27FC236}">
                <a16:creationId xmlns:a16="http://schemas.microsoft.com/office/drawing/2014/main" id="{B6F00547-AFBF-6F51-91EC-6B3604B7133B}"/>
              </a:ext>
            </a:extLst>
          </p:cNvPr>
          <p:cNvPicPr>
            <a:picLocks noChangeAspect="1"/>
          </p:cNvPicPr>
          <p:nvPr/>
        </p:nvPicPr>
        <p:blipFill>
          <a:blip r:embed="rId4">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95184" y="2211420"/>
            <a:ext cx="425006" cy="425006"/>
          </a:xfrm>
          <a:prstGeom prst="rect">
            <a:avLst/>
          </a:prstGeom>
        </p:spPr>
      </p:pic>
      <p:grpSp>
        <p:nvGrpSpPr>
          <p:cNvPr id="8" name="Group 7">
            <a:extLst>
              <a:ext uri="{FF2B5EF4-FFF2-40B4-BE49-F238E27FC236}">
                <a16:creationId xmlns:a16="http://schemas.microsoft.com/office/drawing/2014/main" id="{F1194001-8D2E-686E-CC2C-F5CAC302D738}"/>
              </a:ext>
            </a:extLst>
          </p:cNvPr>
          <p:cNvGrpSpPr/>
          <p:nvPr/>
        </p:nvGrpSpPr>
        <p:grpSpPr>
          <a:xfrm>
            <a:off x="435258" y="4171203"/>
            <a:ext cx="486115" cy="542735"/>
            <a:chOff x="303435" y="3498703"/>
            <a:chExt cx="486115" cy="542735"/>
          </a:xfrm>
        </p:grpSpPr>
        <p:pic>
          <p:nvPicPr>
            <p:cNvPr id="9" name="Picture 8" descr="A green leafy plant with black background&#10;&#10;Description automatically generated">
              <a:extLst>
                <a:ext uri="{FF2B5EF4-FFF2-40B4-BE49-F238E27FC236}">
                  <a16:creationId xmlns:a16="http://schemas.microsoft.com/office/drawing/2014/main" id="{579F165B-6127-3D7E-0CE5-4B06327C6C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3435" y="3555323"/>
              <a:ext cx="486115" cy="486115"/>
            </a:xfrm>
            <a:prstGeom prst="rect">
              <a:avLst/>
            </a:prstGeom>
          </p:spPr>
        </p:pic>
        <p:pic>
          <p:nvPicPr>
            <p:cNvPr id="10" name="Picture 9" descr="A green leafy plant with black background&#10;&#10;Description automatically generated">
              <a:extLst>
                <a:ext uri="{FF2B5EF4-FFF2-40B4-BE49-F238E27FC236}">
                  <a16:creationId xmlns:a16="http://schemas.microsoft.com/office/drawing/2014/main" id="{CD8AF6BC-873F-E332-E533-32707E5AF5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flipH="1">
              <a:off x="362460" y="3498703"/>
              <a:ext cx="427090" cy="404236"/>
            </a:xfrm>
            <a:prstGeom prst="rect">
              <a:avLst/>
            </a:prstGeom>
          </p:spPr>
        </p:pic>
      </p:grpSp>
      <p:pic>
        <p:nvPicPr>
          <p:cNvPr id="11" name="Picture 10" descr="A black background with a black square&#10;&#10;Description automatically generated with medium confidence">
            <a:extLst>
              <a:ext uri="{FF2B5EF4-FFF2-40B4-BE49-F238E27FC236}">
                <a16:creationId xmlns:a16="http://schemas.microsoft.com/office/drawing/2014/main" id="{48E9879E-9CB3-5EF1-9773-581E9AB4B7A9}"/>
              </a:ext>
            </a:extLst>
          </p:cNvPr>
          <p:cNvPicPr>
            <a:picLocks noChangeAspect="1"/>
          </p:cNvPicPr>
          <p:nvPr/>
        </p:nvPicPr>
        <p:blipFill>
          <a:blip r:embed="rId6">
            <a:duotone>
              <a:schemeClr val="accent2">
                <a:shade val="45000"/>
                <a:satMod val="135000"/>
              </a:schemeClr>
              <a:prstClr val="white"/>
            </a:duotone>
            <a:extLst>
              <a:ext uri="{BEBA8EAE-BF5A-486C-A8C5-ECC9F3942E4B}">
                <a14:imgProps xmlns:a14="http://schemas.microsoft.com/office/drawing/2010/main">
                  <a14:imgLayer r:embed="rId7">
                    <a14:imgEffect>
                      <a14:saturation sat="234000"/>
                    </a14:imgEffect>
                  </a14:imgLayer>
                </a14:imgProps>
              </a:ext>
              <a:ext uri="{28A0092B-C50C-407E-A947-70E740481C1C}">
                <a14:useLocalDpi xmlns:a14="http://schemas.microsoft.com/office/drawing/2010/main" val="0"/>
              </a:ext>
            </a:extLst>
          </a:blip>
          <a:stretch>
            <a:fillRect/>
          </a:stretch>
        </p:blipFill>
        <p:spPr>
          <a:xfrm>
            <a:off x="413492" y="4918178"/>
            <a:ext cx="441039" cy="441039"/>
          </a:xfrm>
          <a:prstGeom prst="rect">
            <a:avLst/>
          </a:prstGeom>
        </p:spPr>
      </p:pic>
      <p:pic>
        <p:nvPicPr>
          <p:cNvPr id="12" name="Picture 11" descr="A green recycle bin with a smiling face&#10;&#10;Description automatically generated">
            <a:extLst>
              <a:ext uri="{FF2B5EF4-FFF2-40B4-BE49-F238E27FC236}">
                <a16:creationId xmlns:a16="http://schemas.microsoft.com/office/drawing/2014/main" id="{22836823-3DF6-7A47-096A-CE22D67BF1F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4875" y="5587260"/>
            <a:ext cx="379656" cy="379656"/>
          </a:xfrm>
          <a:prstGeom prst="rect">
            <a:avLst/>
          </a:prstGeom>
        </p:spPr>
      </p:pic>
      <p:pic>
        <p:nvPicPr>
          <p:cNvPr id="13" name="Picture 12" descr="A three trash cans with different colored containers&#10;&#10;Description automatically generated">
            <a:extLst>
              <a:ext uri="{FF2B5EF4-FFF2-40B4-BE49-F238E27FC236}">
                <a16:creationId xmlns:a16="http://schemas.microsoft.com/office/drawing/2014/main" id="{10EDC64C-53C6-4FCE-5638-474A5C958FF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2261" y="2879755"/>
            <a:ext cx="421359" cy="421359"/>
          </a:xfrm>
          <a:prstGeom prst="rect">
            <a:avLst/>
          </a:prstGeom>
        </p:spPr>
      </p:pic>
      <p:sp>
        <p:nvSpPr>
          <p:cNvPr id="14" name="TextBox 13">
            <a:extLst>
              <a:ext uri="{FF2B5EF4-FFF2-40B4-BE49-F238E27FC236}">
                <a16:creationId xmlns:a16="http://schemas.microsoft.com/office/drawing/2014/main" id="{EEF803CC-E449-E5ED-3587-976C6637BAB3}"/>
              </a:ext>
            </a:extLst>
          </p:cNvPr>
          <p:cNvSpPr txBox="1"/>
          <p:nvPr/>
        </p:nvSpPr>
        <p:spPr>
          <a:xfrm>
            <a:off x="413492" y="958948"/>
            <a:ext cx="253076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3 bin system – Apartment Blocks</a:t>
            </a:r>
          </a:p>
        </p:txBody>
      </p:sp>
      <p:sp>
        <p:nvSpPr>
          <p:cNvPr id="15" name="TextBox 14">
            <a:extLst>
              <a:ext uri="{FF2B5EF4-FFF2-40B4-BE49-F238E27FC236}">
                <a16:creationId xmlns:a16="http://schemas.microsoft.com/office/drawing/2014/main" id="{35F8475F-E4EB-24E8-3896-B9DA2E335B45}"/>
              </a:ext>
            </a:extLst>
          </p:cNvPr>
          <p:cNvSpPr txBox="1"/>
          <p:nvPr/>
        </p:nvSpPr>
        <p:spPr>
          <a:xfrm>
            <a:off x="375392" y="1830504"/>
            <a:ext cx="2530763"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2 bin system – Individual Houses</a:t>
            </a:r>
          </a:p>
        </p:txBody>
      </p:sp>
      <p:sp>
        <p:nvSpPr>
          <p:cNvPr id="16" name="TextBox 15">
            <a:extLst>
              <a:ext uri="{FF2B5EF4-FFF2-40B4-BE49-F238E27FC236}">
                <a16:creationId xmlns:a16="http://schemas.microsoft.com/office/drawing/2014/main" id="{B322D8E3-4852-C4FA-CB41-3D067C1D9FC4}"/>
              </a:ext>
            </a:extLst>
          </p:cNvPr>
          <p:cNvSpPr txBox="1"/>
          <p:nvPr/>
        </p:nvSpPr>
        <p:spPr>
          <a:xfrm>
            <a:off x="451351" y="1161157"/>
            <a:ext cx="599522" cy="246221"/>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Plastic</a:t>
            </a:r>
          </a:p>
        </p:txBody>
      </p:sp>
      <p:sp>
        <p:nvSpPr>
          <p:cNvPr id="17" name="TextBox 16">
            <a:extLst>
              <a:ext uri="{FF2B5EF4-FFF2-40B4-BE49-F238E27FC236}">
                <a16:creationId xmlns:a16="http://schemas.microsoft.com/office/drawing/2014/main" id="{AC09B00B-D27E-1575-482F-3C7BB6919DD9}"/>
              </a:ext>
            </a:extLst>
          </p:cNvPr>
          <p:cNvSpPr txBox="1"/>
          <p:nvPr/>
        </p:nvSpPr>
        <p:spPr>
          <a:xfrm>
            <a:off x="995184" y="1156628"/>
            <a:ext cx="59952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Paper</a:t>
            </a:r>
          </a:p>
        </p:txBody>
      </p:sp>
      <p:sp>
        <p:nvSpPr>
          <p:cNvPr id="18" name="TextBox 17">
            <a:extLst>
              <a:ext uri="{FF2B5EF4-FFF2-40B4-BE49-F238E27FC236}">
                <a16:creationId xmlns:a16="http://schemas.microsoft.com/office/drawing/2014/main" id="{843A52A9-F408-D578-8966-957B855C1076}"/>
              </a:ext>
            </a:extLst>
          </p:cNvPr>
          <p:cNvSpPr txBox="1"/>
          <p:nvPr/>
        </p:nvSpPr>
        <p:spPr>
          <a:xfrm>
            <a:off x="1576876" y="1161157"/>
            <a:ext cx="59952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Glass</a:t>
            </a:r>
          </a:p>
        </p:txBody>
      </p:sp>
      <p:sp>
        <p:nvSpPr>
          <p:cNvPr id="19" name="TextBox 18">
            <a:extLst>
              <a:ext uri="{FF2B5EF4-FFF2-40B4-BE49-F238E27FC236}">
                <a16:creationId xmlns:a16="http://schemas.microsoft.com/office/drawing/2014/main" id="{23BDC441-8C7D-FFA9-A0EA-9BE4CBC51FD1}"/>
              </a:ext>
            </a:extLst>
          </p:cNvPr>
          <p:cNvSpPr txBox="1"/>
          <p:nvPr/>
        </p:nvSpPr>
        <p:spPr>
          <a:xfrm>
            <a:off x="899608" y="752714"/>
            <a:ext cx="13138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Recyclable Waste</a:t>
            </a:r>
          </a:p>
        </p:txBody>
      </p:sp>
      <p:sp>
        <p:nvSpPr>
          <p:cNvPr id="20" name="TextBox 19">
            <a:extLst>
              <a:ext uri="{FF2B5EF4-FFF2-40B4-BE49-F238E27FC236}">
                <a16:creationId xmlns:a16="http://schemas.microsoft.com/office/drawing/2014/main" id="{3E2C607A-B1EE-8E68-8513-93D651D715CC}"/>
              </a:ext>
            </a:extLst>
          </p:cNvPr>
          <p:cNvSpPr txBox="1"/>
          <p:nvPr/>
        </p:nvSpPr>
        <p:spPr>
          <a:xfrm>
            <a:off x="451351" y="2005557"/>
            <a:ext cx="403180" cy="246221"/>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Mix</a:t>
            </a:r>
          </a:p>
        </p:txBody>
      </p:sp>
      <p:sp>
        <p:nvSpPr>
          <p:cNvPr id="21" name="TextBox 20">
            <a:extLst>
              <a:ext uri="{FF2B5EF4-FFF2-40B4-BE49-F238E27FC236}">
                <a16:creationId xmlns:a16="http://schemas.microsoft.com/office/drawing/2014/main" id="{7A1D7EF5-0E6B-E33B-1A3C-7730E6ACBDB0}"/>
              </a:ext>
            </a:extLst>
          </p:cNvPr>
          <p:cNvSpPr txBox="1"/>
          <p:nvPr/>
        </p:nvSpPr>
        <p:spPr>
          <a:xfrm>
            <a:off x="964813" y="2005557"/>
            <a:ext cx="624280" cy="246221"/>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Glass</a:t>
            </a:r>
          </a:p>
        </p:txBody>
      </p:sp>
      <p:sp>
        <p:nvSpPr>
          <p:cNvPr id="22" name="Rectangle: Rounded Corners 145">
            <a:extLst>
              <a:ext uri="{FF2B5EF4-FFF2-40B4-BE49-F238E27FC236}">
                <a16:creationId xmlns:a16="http://schemas.microsoft.com/office/drawing/2014/main" id="{D1CFB798-82E6-7C86-D4F2-26120AADBAA0}"/>
              </a:ext>
            </a:extLst>
          </p:cNvPr>
          <p:cNvSpPr/>
          <p:nvPr/>
        </p:nvSpPr>
        <p:spPr>
          <a:xfrm>
            <a:off x="375391" y="4161884"/>
            <a:ext cx="2496441" cy="602766"/>
          </a:xfrm>
          <a:prstGeom prst="roundRect">
            <a:avLst/>
          </a:prstGeom>
          <a:noFill/>
          <a:ln w="19050">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B52DE3F0-0188-F6CC-BBCC-BB473E356993}"/>
              </a:ext>
            </a:extLst>
          </p:cNvPr>
          <p:cNvSpPr txBox="1"/>
          <p:nvPr/>
        </p:nvSpPr>
        <p:spPr>
          <a:xfrm>
            <a:off x="947401" y="4240344"/>
            <a:ext cx="192443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Green Waste in Urban Areas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Public Spaces (parks)</a:t>
            </a:r>
          </a:p>
        </p:txBody>
      </p:sp>
      <p:sp>
        <p:nvSpPr>
          <p:cNvPr id="24" name="Rectangle: Rounded Corners 147">
            <a:extLst>
              <a:ext uri="{FF2B5EF4-FFF2-40B4-BE49-F238E27FC236}">
                <a16:creationId xmlns:a16="http://schemas.microsoft.com/office/drawing/2014/main" id="{91F26AC1-C7EF-D8D3-6727-80DBF40363B7}"/>
              </a:ext>
            </a:extLst>
          </p:cNvPr>
          <p:cNvSpPr/>
          <p:nvPr/>
        </p:nvSpPr>
        <p:spPr>
          <a:xfrm>
            <a:off x="375391" y="4860704"/>
            <a:ext cx="2496441" cy="552054"/>
          </a:xfrm>
          <a:prstGeom prst="roundRect">
            <a:avLst/>
          </a:prstGeom>
          <a:noFill/>
          <a:ln w="19050">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F1E64E07-B741-DA91-AC88-47985386D8B4}"/>
              </a:ext>
            </a:extLst>
          </p:cNvPr>
          <p:cNvSpPr txBox="1"/>
          <p:nvPr/>
        </p:nvSpPr>
        <p:spPr>
          <a:xfrm>
            <a:off x="947401" y="5010259"/>
            <a:ext cx="192443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Food Waste in Urban Areas</a:t>
            </a:r>
          </a:p>
        </p:txBody>
      </p:sp>
      <p:sp>
        <p:nvSpPr>
          <p:cNvPr id="26" name="Rectangle: Rounded Corners 149">
            <a:extLst>
              <a:ext uri="{FF2B5EF4-FFF2-40B4-BE49-F238E27FC236}">
                <a16:creationId xmlns:a16="http://schemas.microsoft.com/office/drawing/2014/main" id="{948F0F9E-0C4C-7A08-A7E4-002F65CF2954}"/>
              </a:ext>
            </a:extLst>
          </p:cNvPr>
          <p:cNvSpPr/>
          <p:nvPr/>
        </p:nvSpPr>
        <p:spPr>
          <a:xfrm>
            <a:off x="375391" y="5478247"/>
            <a:ext cx="2496441" cy="552054"/>
          </a:xfrm>
          <a:prstGeom prst="roundRect">
            <a:avLst/>
          </a:prstGeom>
          <a:noFill/>
          <a:ln w="19050">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828B31CE-BECA-C1C1-D33C-F5E312E2E7FA}"/>
              </a:ext>
            </a:extLst>
          </p:cNvPr>
          <p:cNvSpPr txBox="1"/>
          <p:nvPr/>
        </p:nvSpPr>
        <p:spPr>
          <a:xfrm>
            <a:off x="947401" y="5494452"/>
            <a:ext cx="1924431"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Home Composting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Green and Food Waste Individual Housing</a:t>
            </a:r>
          </a:p>
        </p:txBody>
      </p:sp>
      <p:sp>
        <p:nvSpPr>
          <p:cNvPr id="28" name="Rectangle: Rounded Corners 151">
            <a:extLst>
              <a:ext uri="{FF2B5EF4-FFF2-40B4-BE49-F238E27FC236}">
                <a16:creationId xmlns:a16="http://schemas.microsoft.com/office/drawing/2014/main" id="{38D89FB1-E77B-066C-BC00-1A7657F57602}"/>
              </a:ext>
            </a:extLst>
          </p:cNvPr>
          <p:cNvSpPr/>
          <p:nvPr/>
        </p:nvSpPr>
        <p:spPr>
          <a:xfrm>
            <a:off x="375391" y="2828727"/>
            <a:ext cx="2496441" cy="552054"/>
          </a:xfrm>
          <a:prstGeom prst="roundRect">
            <a:avLst/>
          </a:prstGeom>
          <a:noFill/>
          <a:ln w="19050">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83061C00-B618-F352-F723-E0BDCD4B17FF}"/>
              </a:ext>
            </a:extLst>
          </p:cNvPr>
          <p:cNvSpPr txBox="1"/>
          <p:nvPr/>
        </p:nvSpPr>
        <p:spPr>
          <a:xfrm>
            <a:off x="947401" y="2925226"/>
            <a:ext cx="1924431"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Civic Amenity </a:t>
            </a:r>
            <a:r>
              <a:rPr kumimoji="0" lang="en-GB" sz="1000" b="1" i="0" u="none" strike="noStrike" kern="1200" cap="none" spc="0" normalizeH="0" baseline="0" noProof="0" dirty="0" err="1">
                <a:ln>
                  <a:noFill/>
                </a:ln>
                <a:solidFill>
                  <a:prstClr val="black"/>
                </a:solidFill>
                <a:effectLst/>
                <a:uLnTx/>
                <a:uFillTx/>
                <a:latin typeface="Century Gothic" panose="020B0502020202020204" pitchFamily="34" charset="0"/>
                <a:ea typeface="+mn-ea"/>
                <a:cs typeface="+mn-cs"/>
              </a:rPr>
              <a:t>Centers</a:t>
            </a:r>
            <a:endPar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(recycling yards)</a:t>
            </a:r>
          </a:p>
        </p:txBody>
      </p:sp>
      <p:pic>
        <p:nvPicPr>
          <p:cNvPr id="30" name="Picture 29" descr="A black background with a black square&#10;&#10;Description automatically generated with medium confidence">
            <a:extLst>
              <a:ext uri="{FF2B5EF4-FFF2-40B4-BE49-F238E27FC236}">
                <a16:creationId xmlns:a16="http://schemas.microsoft.com/office/drawing/2014/main" id="{75947D68-633F-E21C-80DD-3045EA5063EE}"/>
              </a:ext>
            </a:extLst>
          </p:cNvPr>
          <p:cNvPicPr>
            <a:picLocks noChangeAspect="1"/>
          </p:cNvPicPr>
          <p:nvPr/>
        </p:nvPicPr>
        <p:blipFill>
          <a:blip r:embed="rId6">
            <a:duotone>
              <a:schemeClr val="accent2">
                <a:shade val="45000"/>
                <a:satMod val="135000"/>
              </a:schemeClr>
              <a:prstClr val="white"/>
            </a:duotone>
            <a:extLst>
              <a:ext uri="{BEBA8EAE-BF5A-486C-A8C5-ECC9F3942E4B}">
                <a14:imgProps xmlns:a14="http://schemas.microsoft.com/office/drawing/2010/main">
                  <a14:imgLayer r:embed="rId7">
                    <a14:imgEffect>
                      <a14:saturation sat="234000"/>
                    </a14:imgEffect>
                  </a14:imgLayer>
                </a14:imgProps>
              </a:ext>
              <a:ext uri="{28A0092B-C50C-407E-A947-70E740481C1C}">
                <a14:useLocalDpi xmlns:a14="http://schemas.microsoft.com/office/drawing/2010/main" val="0"/>
              </a:ext>
            </a:extLst>
          </a:blip>
          <a:stretch>
            <a:fillRect/>
          </a:stretch>
        </p:blipFill>
        <p:spPr>
          <a:xfrm>
            <a:off x="413492" y="3557380"/>
            <a:ext cx="441039" cy="441039"/>
          </a:xfrm>
          <a:prstGeom prst="rect">
            <a:avLst/>
          </a:prstGeom>
        </p:spPr>
      </p:pic>
      <p:sp>
        <p:nvSpPr>
          <p:cNvPr id="31" name="Rectangle: Rounded Corners 154">
            <a:extLst>
              <a:ext uri="{FF2B5EF4-FFF2-40B4-BE49-F238E27FC236}">
                <a16:creationId xmlns:a16="http://schemas.microsoft.com/office/drawing/2014/main" id="{DECC19DE-9721-C39B-B247-8EA7B443FCB3}"/>
              </a:ext>
            </a:extLst>
          </p:cNvPr>
          <p:cNvSpPr/>
          <p:nvPr/>
        </p:nvSpPr>
        <p:spPr>
          <a:xfrm>
            <a:off x="375391" y="3499906"/>
            <a:ext cx="2496441" cy="552054"/>
          </a:xfrm>
          <a:prstGeom prst="roundRect">
            <a:avLst/>
          </a:prstGeom>
          <a:noFill/>
          <a:ln w="19050">
            <a:solidFill>
              <a:schemeClr val="bg2">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A1BD084C-F853-A1A6-DFA3-92F02914EFB2}"/>
              </a:ext>
            </a:extLst>
          </p:cNvPr>
          <p:cNvSpPr txBox="1"/>
          <p:nvPr/>
        </p:nvSpPr>
        <p:spPr>
          <a:xfrm>
            <a:off x="947401" y="3649461"/>
            <a:ext cx="1924431"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Residual (mixed) Waste</a:t>
            </a:r>
          </a:p>
        </p:txBody>
      </p:sp>
      <p:pic>
        <p:nvPicPr>
          <p:cNvPr id="33" name="Picture 32" descr="A green garbage truck with a recycle symbol on the side&#10;&#10;Description automatically generated">
            <a:extLst>
              <a:ext uri="{FF2B5EF4-FFF2-40B4-BE49-F238E27FC236}">
                <a16:creationId xmlns:a16="http://schemas.microsoft.com/office/drawing/2014/main" id="{1868CF6C-1E49-EB01-9DF8-C95BF223FD2F}"/>
              </a:ext>
            </a:extLst>
          </p:cNvPr>
          <p:cNvPicPr>
            <a:picLocks noChangeAspect="1"/>
          </p:cNvPicPr>
          <p:nvPr/>
        </p:nvPicPr>
        <p:blipFill>
          <a:blip r:embed="rId10">
            <a:duotone>
              <a:prstClr val="black"/>
              <a:schemeClr val="accent5">
                <a:tint val="45000"/>
                <a:satMod val="400000"/>
              </a:schemeClr>
            </a:duotone>
            <a:extLst>
              <a:ext uri="{28A0092B-C50C-407E-A947-70E740481C1C}">
                <a14:useLocalDpi xmlns:a14="http://schemas.microsoft.com/office/drawing/2010/main" val="0"/>
              </a:ext>
            </a:extLst>
          </a:blip>
          <a:stretch>
            <a:fillRect/>
          </a:stretch>
        </p:blipFill>
        <p:spPr>
          <a:xfrm>
            <a:off x="3487847" y="1453649"/>
            <a:ext cx="576000" cy="576000"/>
          </a:xfrm>
          <a:prstGeom prst="rect">
            <a:avLst/>
          </a:prstGeom>
        </p:spPr>
      </p:pic>
      <p:pic>
        <p:nvPicPr>
          <p:cNvPr id="34" name="Picture 33" descr="A green garbage truck with a recycle symbol on the side&#10;&#10;Description automatically generated">
            <a:extLst>
              <a:ext uri="{FF2B5EF4-FFF2-40B4-BE49-F238E27FC236}">
                <a16:creationId xmlns:a16="http://schemas.microsoft.com/office/drawing/2014/main" id="{7E90C4FB-D61E-DB41-6BB9-8D63E1B25B2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524769" y="4181777"/>
            <a:ext cx="576000" cy="576000"/>
          </a:xfrm>
          <a:prstGeom prst="rect">
            <a:avLst/>
          </a:prstGeom>
        </p:spPr>
      </p:pic>
      <p:pic>
        <p:nvPicPr>
          <p:cNvPr id="35" name="Picture 34" descr="A green garbage truck with a recycle symbol on the side&#10;&#10;Description automatically generated">
            <a:extLst>
              <a:ext uri="{FF2B5EF4-FFF2-40B4-BE49-F238E27FC236}">
                <a16:creationId xmlns:a16="http://schemas.microsoft.com/office/drawing/2014/main" id="{515D595C-C1BB-7752-F776-5B0444EFD0B5}"/>
              </a:ext>
            </a:extLst>
          </p:cNvPr>
          <p:cNvPicPr>
            <a:picLocks noChangeAspect="1"/>
          </p:cNvPicPr>
          <p:nvPr/>
        </p:nvPicPr>
        <p:blipFill>
          <a:blip r:embed="rId10">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3524769" y="4824426"/>
            <a:ext cx="576000" cy="576000"/>
          </a:xfrm>
          <a:prstGeom prst="rect">
            <a:avLst/>
          </a:prstGeom>
        </p:spPr>
      </p:pic>
      <p:pic>
        <p:nvPicPr>
          <p:cNvPr id="36" name="Picture 35" descr="A green garbage truck with a recycle symbol on the side&#10;&#10;Description automatically generated">
            <a:extLst>
              <a:ext uri="{FF2B5EF4-FFF2-40B4-BE49-F238E27FC236}">
                <a16:creationId xmlns:a16="http://schemas.microsoft.com/office/drawing/2014/main" id="{B268116E-0257-6653-7B9C-B0347556E8DD}"/>
              </a:ext>
            </a:extLst>
          </p:cNvPr>
          <p:cNvPicPr>
            <a:picLocks noChangeAspect="1"/>
          </p:cNvPicPr>
          <p:nvPr/>
        </p:nvPicPr>
        <p:blipFill>
          <a:blip r:embed="rId10">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3524769" y="3484939"/>
            <a:ext cx="576000" cy="576000"/>
          </a:xfrm>
          <a:prstGeom prst="rect">
            <a:avLst/>
          </a:prstGeom>
        </p:spPr>
      </p:pic>
      <p:cxnSp>
        <p:nvCxnSpPr>
          <p:cNvPr id="37" name="Straight Connector 36">
            <a:extLst>
              <a:ext uri="{FF2B5EF4-FFF2-40B4-BE49-F238E27FC236}">
                <a16:creationId xmlns:a16="http://schemas.microsoft.com/office/drawing/2014/main" id="{2405B3D6-F33F-277B-1AD1-A74F43C9D0E0}"/>
              </a:ext>
            </a:extLst>
          </p:cNvPr>
          <p:cNvCxnSpPr>
            <a:stCxn id="2" idx="3"/>
          </p:cNvCxnSpPr>
          <p:nvPr/>
        </p:nvCxnSpPr>
        <p:spPr>
          <a:xfrm>
            <a:off x="2871832" y="1723006"/>
            <a:ext cx="551007" cy="0"/>
          </a:xfrm>
          <a:prstGeom prst="line">
            <a:avLst/>
          </a:prstGeom>
          <a:ln w="19050">
            <a:solidFill>
              <a:schemeClr val="bg2">
                <a:lumMod val="75000"/>
              </a:schemeClr>
            </a:solidFill>
            <a:prstDash val="dash"/>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579962A5-94EC-AE0C-98D2-2824DF695063}"/>
              </a:ext>
            </a:extLst>
          </p:cNvPr>
          <p:cNvCxnSpPr>
            <a:cxnSpLocks/>
          </p:cNvCxnSpPr>
          <p:nvPr/>
        </p:nvCxnSpPr>
        <p:spPr>
          <a:xfrm>
            <a:off x="2871832" y="3770154"/>
            <a:ext cx="551007" cy="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CFE4893E-E7C8-907A-C5B2-9B4DE16943C8}"/>
              </a:ext>
            </a:extLst>
          </p:cNvPr>
          <p:cNvCxnSpPr>
            <a:cxnSpLocks/>
          </p:cNvCxnSpPr>
          <p:nvPr/>
        </p:nvCxnSpPr>
        <p:spPr>
          <a:xfrm>
            <a:off x="2871832" y="4449604"/>
            <a:ext cx="551007" cy="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BBB89C4A-C803-B167-B1AC-338ADF93F640}"/>
              </a:ext>
            </a:extLst>
          </p:cNvPr>
          <p:cNvCxnSpPr>
            <a:cxnSpLocks/>
          </p:cNvCxnSpPr>
          <p:nvPr/>
        </p:nvCxnSpPr>
        <p:spPr>
          <a:xfrm>
            <a:off x="2871832" y="5112544"/>
            <a:ext cx="551007" cy="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32C65D62-0921-6912-1D8E-BADC624FFFBD}"/>
              </a:ext>
            </a:extLst>
          </p:cNvPr>
          <p:cNvCxnSpPr>
            <a:cxnSpLocks/>
          </p:cNvCxnSpPr>
          <p:nvPr/>
        </p:nvCxnSpPr>
        <p:spPr>
          <a:xfrm>
            <a:off x="2871832" y="3122598"/>
            <a:ext cx="3870037" cy="0"/>
          </a:xfrm>
          <a:prstGeom prst="line">
            <a:avLst/>
          </a:prstGeom>
          <a:ln w="19050">
            <a:solidFill>
              <a:schemeClr val="bg2">
                <a:lumMod val="75000"/>
              </a:schemeClr>
            </a:solidFill>
            <a:prstDash val="dash"/>
          </a:ln>
        </p:spPr>
        <p:style>
          <a:lnRef idx="1">
            <a:schemeClr val="dk1"/>
          </a:lnRef>
          <a:fillRef idx="0">
            <a:schemeClr val="dk1"/>
          </a:fillRef>
          <a:effectRef idx="0">
            <a:schemeClr val="dk1"/>
          </a:effectRef>
          <a:fontRef idx="minor">
            <a:schemeClr val="tx1"/>
          </a:fontRef>
        </p:style>
      </p:cxnSp>
      <p:pic>
        <p:nvPicPr>
          <p:cNvPr id="42" name="Picture 41" descr="A black background with a black square&#10;&#10;Description automatically generated with medium confidence">
            <a:extLst>
              <a:ext uri="{FF2B5EF4-FFF2-40B4-BE49-F238E27FC236}">
                <a16:creationId xmlns:a16="http://schemas.microsoft.com/office/drawing/2014/main" id="{502A25A6-0BFB-1B3C-238C-A3087C6A57AB}"/>
              </a:ext>
            </a:extLst>
          </p:cNvPr>
          <p:cNvPicPr>
            <a:picLocks noChangeAspect="1"/>
          </p:cNvPicPr>
          <p:nvPr/>
        </p:nvPicPr>
        <p:blipFill>
          <a:blip r:embed="rId11">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0801588" y="2432124"/>
            <a:ext cx="744856" cy="744856"/>
          </a:xfrm>
          <a:prstGeom prst="rect">
            <a:avLst/>
          </a:prstGeom>
        </p:spPr>
      </p:pic>
      <p:pic>
        <p:nvPicPr>
          <p:cNvPr id="43" name="Picture 42" descr="A black background with a black square&#10;&#10;Description automatically generated with medium confidence">
            <a:extLst>
              <a:ext uri="{FF2B5EF4-FFF2-40B4-BE49-F238E27FC236}">
                <a16:creationId xmlns:a16="http://schemas.microsoft.com/office/drawing/2014/main" id="{711BD7AF-EE64-C2FD-95A2-2B32AEC90F1E}"/>
              </a:ext>
            </a:extLst>
          </p:cNvPr>
          <p:cNvPicPr>
            <a:picLocks noChangeAspect="1"/>
          </p:cNvPicPr>
          <p:nvPr/>
        </p:nvPicPr>
        <p:blipFill>
          <a:blip r:embed="rId1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490319" y="4227823"/>
            <a:ext cx="438707" cy="438707"/>
          </a:xfrm>
          <a:prstGeom prst="rect">
            <a:avLst/>
          </a:prstGeom>
        </p:spPr>
      </p:pic>
      <p:pic>
        <p:nvPicPr>
          <p:cNvPr id="44" name="Picture 43" descr="A black background with a black square&#10;&#10;Description automatically generated with medium confidence">
            <a:extLst>
              <a:ext uri="{FF2B5EF4-FFF2-40B4-BE49-F238E27FC236}">
                <a16:creationId xmlns:a16="http://schemas.microsoft.com/office/drawing/2014/main" id="{A1CC5EA6-908A-87E9-A205-2A5F2E135562}"/>
              </a:ext>
            </a:extLst>
          </p:cNvPr>
          <p:cNvPicPr>
            <a:picLocks noChangeAspect="1"/>
          </p:cNvPicPr>
          <p:nvPr/>
        </p:nvPicPr>
        <p:blipFill>
          <a:blip r:embed="rId12">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929026" y="4227823"/>
            <a:ext cx="438707" cy="438707"/>
          </a:xfrm>
          <a:prstGeom prst="rect">
            <a:avLst/>
          </a:prstGeom>
        </p:spPr>
      </p:pic>
      <p:cxnSp>
        <p:nvCxnSpPr>
          <p:cNvPr id="45" name="Straight Connector 44">
            <a:extLst>
              <a:ext uri="{FF2B5EF4-FFF2-40B4-BE49-F238E27FC236}">
                <a16:creationId xmlns:a16="http://schemas.microsoft.com/office/drawing/2014/main" id="{F76BD725-73A6-4606-9855-5635801D7E7D}"/>
              </a:ext>
            </a:extLst>
          </p:cNvPr>
          <p:cNvCxnSpPr>
            <a:cxnSpLocks/>
          </p:cNvCxnSpPr>
          <p:nvPr/>
        </p:nvCxnSpPr>
        <p:spPr>
          <a:xfrm>
            <a:off x="4220572" y="4449604"/>
            <a:ext cx="1145078" cy="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46" name="Picture 73" descr="Graphical user interface, application&#10;&#10;Description automatically generated">
            <a:extLst>
              <a:ext uri="{FF2B5EF4-FFF2-40B4-BE49-F238E27FC236}">
                <a16:creationId xmlns:a16="http://schemas.microsoft.com/office/drawing/2014/main" id="{EFF8D147-D22F-A36E-A488-C3FF9C73C097}"/>
              </a:ext>
            </a:extLst>
          </p:cNvPr>
          <p:cNvPicPr>
            <a:picLocks noChangeAspect="1"/>
          </p:cNvPicPr>
          <p:nvPr/>
        </p:nvPicPr>
        <p:blipFill>
          <a:blip r:embed="rId13" cstate="print">
            <a:extLst>
              <a:ext uri="{BEBA8EAE-BF5A-486C-A8C5-ECC9F3942E4B}">
                <a14:imgProps xmlns:a14="http://schemas.microsoft.com/office/drawing/2010/main">
                  <a14:imgLayer r:embed="rId14">
                    <a14:imgEffect>
                      <a14:saturation sat="66000"/>
                    </a14:imgEffect>
                  </a14:imgLayer>
                </a14:imgProps>
              </a:ext>
              <a:ext uri="{28A0092B-C50C-407E-A947-70E740481C1C}">
                <a14:useLocalDpi xmlns:a14="http://schemas.microsoft.com/office/drawing/2010/main" val="0"/>
              </a:ext>
            </a:extLst>
          </a:blip>
          <a:stretch>
            <a:fillRect/>
          </a:stretch>
        </p:blipFill>
        <p:spPr>
          <a:xfrm flipH="1">
            <a:off x="5093598" y="2593903"/>
            <a:ext cx="1027212" cy="675615"/>
          </a:xfrm>
          <a:prstGeom prst="rect">
            <a:avLst/>
          </a:prstGeom>
        </p:spPr>
      </p:pic>
      <p:pic>
        <p:nvPicPr>
          <p:cNvPr id="47" name="Picture 46" descr="A blue and grey container with ladders&#10;&#10;Description automatically generated">
            <a:extLst>
              <a:ext uri="{FF2B5EF4-FFF2-40B4-BE49-F238E27FC236}">
                <a16:creationId xmlns:a16="http://schemas.microsoft.com/office/drawing/2014/main" id="{B9250FCA-6C77-2261-2681-E9DC91917338}"/>
              </a:ext>
            </a:extLst>
          </p:cNvPr>
          <p:cNvPicPr>
            <a:picLocks noChangeAspect="1"/>
          </p:cNvPicPr>
          <p:nvPr/>
        </p:nvPicPr>
        <p:blipFill>
          <a:blip r:embed="rId15">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5485453" y="4845639"/>
            <a:ext cx="438707" cy="438707"/>
          </a:xfrm>
          <a:prstGeom prst="rect">
            <a:avLst/>
          </a:prstGeom>
        </p:spPr>
      </p:pic>
      <p:cxnSp>
        <p:nvCxnSpPr>
          <p:cNvPr id="48" name="Straight Connector 47">
            <a:extLst>
              <a:ext uri="{FF2B5EF4-FFF2-40B4-BE49-F238E27FC236}">
                <a16:creationId xmlns:a16="http://schemas.microsoft.com/office/drawing/2014/main" id="{94CBC280-FD50-7E8B-1432-707BAC7E6B63}"/>
              </a:ext>
            </a:extLst>
          </p:cNvPr>
          <p:cNvCxnSpPr>
            <a:cxnSpLocks/>
          </p:cNvCxnSpPr>
          <p:nvPr/>
        </p:nvCxnSpPr>
        <p:spPr>
          <a:xfrm>
            <a:off x="4220572" y="5112426"/>
            <a:ext cx="1145078" cy="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49" name="Picture 48" descr="A white truck in a garage&#10;&#10;Description automatically generated">
            <a:extLst>
              <a:ext uri="{FF2B5EF4-FFF2-40B4-BE49-F238E27FC236}">
                <a16:creationId xmlns:a16="http://schemas.microsoft.com/office/drawing/2014/main" id="{0DCE4531-A14E-0976-2772-9F9A961EDDFA}"/>
              </a:ext>
            </a:extLst>
          </p:cNvPr>
          <p:cNvPicPr>
            <a:picLocks noChangeAspect="1"/>
          </p:cNvPicPr>
          <p:nvPr/>
        </p:nvPicPr>
        <p:blipFill>
          <a:blip r:embed="rId16">
            <a:duotone>
              <a:prstClr val="black"/>
              <a:schemeClr val="accent2">
                <a:tint val="45000"/>
                <a:satMod val="400000"/>
              </a:schemeClr>
            </a:duotone>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6392535" y="3507526"/>
            <a:ext cx="615216" cy="444323"/>
          </a:xfrm>
          <a:prstGeom prst="rect">
            <a:avLst/>
          </a:prstGeom>
        </p:spPr>
      </p:pic>
      <p:cxnSp>
        <p:nvCxnSpPr>
          <p:cNvPr id="50" name="Straight Connector 49">
            <a:extLst>
              <a:ext uri="{FF2B5EF4-FFF2-40B4-BE49-F238E27FC236}">
                <a16:creationId xmlns:a16="http://schemas.microsoft.com/office/drawing/2014/main" id="{D1ECE510-43F3-FD91-DEAE-25AA52C979D9}"/>
              </a:ext>
            </a:extLst>
          </p:cNvPr>
          <p:cNvCxnSpPr>
            <a:cxnSpLocks/>
          </p:cNvCxnSpPr>
          <p:nvPr/>
        </p:nvCxnSpPr>
        <p:spPr>
          <a:xfrm>
            <a:off x="4220572" y="3777899"/>
            <a:ext cx="2035871" cy="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B0831139-F983-22D3-0D8D-45FAED281590}"/>
              </a:ext>
            </a:extLst>
          </p:cNvPr>
          <p:cNvCxnSpPr>
            <a:cxnSpLocks/>
          </p:cNvCxnSpPr>
          <p:nvPr/>
        </p:nvCxnSpPr>
        <p:spPr>
          <a:xfrm>
            <a:off x="5711822" y="1790268"/>
            <a:ext cx="0" cy="777564"/>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52" name="Picture 51" descr="A black background with a black square&#10;&#10;Description automatically generated with medium confidence">
            <a:extLst>
              <a:ext uri="{FF2B5EF4-FFF2-40B4-BE49-F238E27FC236}">
                <a16:creationId xmlns:a16="http://schemas.microsoft.com/office/drawing/2014/main" id="{9817139D-13F8-8327-7941-2F29C788DF3D}"/>
              </a:ext>
            </a:extLst>
          </p:cNvPr>
          <p:cNvPicPr>
            <a:picLocks noChangeAspect="1"/>
          </p:cNvPicPr>
          <p:nvPr/>
        </p:nvPicPr>
        <p:blipFill rotWithShape="1">
          <a:blip r:embed="rId18">
            <a:duotone>
              <a:schemeClr val="accent6">
                <a:shade val="45000"/>
                <a:satMod val="135000"/>
              </a:schemeClr>
              <a:prstClr val="white"/>
            </a:duotone>
            <a:extLst>
              <a:ext uri="{28A0092B-C50C-407E-A947-70E740481C1C}">
                <a14:useLocalDpi xmlns:a14="http://schemas.microsoft.com/office/drawing/2010/main" val="0"/>
              </a:ext>
            </a:extLst>
          </a:blip>
          <a:srcRect t="45167"/>
          <a:stretch/>
        </p:blipFill>
        <p:spPr>
          <a:xfrm>
            <a:off x="8825467" y="2759536"/>
            <a:ext cx="744856" cy="408426"/>
          </a:xfrm>
          <a:prstGeom prst="rect">
            <a:avLst/>
          </a:prstGeom>
        </p:spPr>
      </p:pic>
      <p:cxnSp>
        <p:nvCxnSpPr>
          <p:cNvPr id="53" name="Straight Connector 52">
            <a:extLst>
              <a:ext uri="{FF2B5EF4-FFF2-40B4-BE49-F238E27FC236}">
                <a16:creationId xmlns:a16="http://schemas.microsoft.com/office/drawing/2014/main" id="{CCF7800E-50BF-5975-858B-AB687FCAD57F}"/>
              </a:ext>
            </a:extLst>
          </p:cNvPr>
          <p:cNvCxnSpPr>
            <a:cxnSpLocks/>
          </p:cNvCxnSpPr>
          <p:nvPr/>
        </p:nvCxnSpPr>
        <p:spPr>
          <a:xfrm>
            <a:off x="7166164" y="3777899"/>
            <a:ext cx="2041814" cy="0"/>
          </a:xfrm>
          <a:prstGeom prst="line">
            <a:avLst/>
          </a:prstGeom>
          <a:ln w="19050">
            <a:solidFill>
              <a:schemeClr val="bg2">
                <a:lumMod val="75000"/>
              </a:schemeClr>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pic>
        <p:nvPicPr>
          <p:cNvPr id="54" name="Picture 165" descr="Shape&#10;&#10;Description automatically generated">
            <a:extLst>
              <a:ext uri="{FF2B5EF4-FFF2-40B4-BE49-F238E27FC236}">
                <a16:creationId xmlns:a16="http://schemas.microsoft.com/office/drawing/2014/main" id="{E1DF7019-8389-9171-F184-93D989AB99CF}"/>
              </a:ext>
            </a:extLst>
          </p:cNvPr>
          <p:cNvPicPr>
            <a:picLocks noChangeAspect="1"/>
          </p:cNvPicPr>
          <p:nvPr/>
        </p:nvPicPr>
        <p:blipFill>
          <a:blip r:embed="rId19">
            <a:extLst>
              <a:ext uri="{BEBA8EAE-BF5A-486C-A8C5-ECC9F3942E4B}">
                <a14:imgProps xmlns:a14="http://schemas.microsoft.com/office/drawing/2010/main">
                  <a14:imgLayer r:embed="rId20">
                    <a14:imgEffect>
                      <a14:backgroundRemoval t="5900" b="94100" l="6897" r="94828">
                        <a14:foregroundMark x1="17529" y1="49558" x2="17529" y2="49558"/>
                        <a14:foregroundMark x1="6897" y1="38348" x2="6897" y2="38348"/>
                        <a14:foregroundMark x1="36782" y1="19764" x2="36782" y2="19764"/>
                        <a14:foregroundMark x1="23851" y1="45133" x2="23851" y2="45133"/>
                        <a14:foregroundMark x1="22126" y1="50737" x2="22126" y2="50737"/>
                        <a14:foregroundMark x1="36782" y1="5900" x2="36782" y2="5900"/>
                        <a14:foregroundMark x1="70115" y1="19174" x2="70115" y2="19174"/>
                        <a14:foregroundMark x1="86494" y1="48378" x2="86494" y2="48378"/>
                        <a14:foregroundMark x1="94828" y1="53097" x2="94828" y2="53097"/>
                        <a14:foregroundMark x1="78161" y1="73451" x2="78161" y2="73451"/>
                        <a14:foregroundMark x1="66667" y1="74926" x2="66667" y2="74926"/>
                        <a14:foregroundMark x1="70977" y1="80826" x2="70977" y2="80826"/>
                        <a14:foregroundMark x1="64368" y1="83776" x2="64368" y2="83776"/>
                        <a14:foregroundMark x1="69253" y1="76106" x2="73563" y2="76696"/>
                        <a14:foregroundMark x1="63218" y1="17404" x2="63218" y2="17404"/>
                        <a14:foregroundMark x1="64368" y1="12684" x2="67816" y2="18879"/>
                        <a14:foregroundMark x1="65517" y1="94100" x2="65517" y2="94100"/>
                      </a14:backgroundRemoval>
                    </a14:imgEffect>
                  </a14:imgLayer>
                </a14:imgProps>
              </a:ext>
            </a:extLst>
          </a:blip>
          <a:stretch>
            <a:fillRect/>
          </a:stretch>
        </p:blipFill>
        <p:spPr>
          <a:xfrm>
            <a:off x="8825468" y="1345443"/>
            <a:ext cx="744855" cy="725591"/>
          </a:xfrm>
          <a:prstGeom prst="rect">
            <a:avLst/>
          </a:prstGeom>
        </p:spPr>
      </p:pic>
      <p:cxnSp>
        <p:nvCxnSpPr>
          <p:cNvPr id="55" name="Straight Connector 54">
            <a:extLst>
              <a:ext uri="{FF2B5EF4-FFF2-40B4-BE49-F238E27FC236}">
                <a16:creationId xmlns:a16="http://schemas.microsoft.com/office/drawing/2014/main" id="{8833E101-7BDE-17AE-E16C-0AB2BB3874FD}"/>
              </a:ext>
            </a:extLst>
          </p:cNvPr>
          <p:cNvCxnSpPr>
            <a:cxnSpLocks/>
            <a:stCxn id="33" idx="3"/>
          </p:cNvCxnSpPr>
          <p:nvPr/>
        </p:nvCxnSpPr>
        <p:spPr>
          <a:xfrm flipV="1">
            <a:off x="4063847" y="1721674"/>
            <a:ext cx="4673076" cy="19975"/>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56" name="TextBox 55">
            <a:extLst>
              <a:ext uri="{FF2B5EF4-FFF2-40B4-BE49-F238E27FC236}">
                <a16:creationId xmlns:a16="http://schemas.microsoft.com/office/drawing/2014/main" id="{249FC56A-7150-1246-DE84-65EA579E520C}"/>
              </a:ext>
            </a:extLst>
          </p:cNvPr>
          <p:cNvSpPr txBox="1"/>
          <p:nvPr/>
        </p:nvSpPr>
        <p:spPr>
          <a:xfrm>
            <a:off x="5053836" y="2456811"/>
            <a:ext cx="13138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Sorting Centre</a:t>
            </a:r>
          </a:p>
        </p:txBody>
      </p:sp>
      <p:sp>
        <p:nvSpPr>
          <p:cNvPr id="57" name="TextBox 56">
            <a:extLst>
              <a:ext uri="{FF2B5EF4-FFF2-40B4-BE49-F238E27FC236}">
                <a16:creationId xmlns:a16="http://schemas.microsoft.com/office/drawing/2014/main" id="{7B412671-B504-D10E-C70A-523476329F38}"/>
              </a:ext>
            </a:extLst>
          </p:cNvPr>
          <p:cNvSpPr txBox="1"/>
          <p:nvPr/>
        </p:nvSpPr>
        <p:spPr>
          <a:xfrm>
            <a:off x="6112249" y="3242743"/>
            <a:ext cx="13138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Transfer Station</a:t>
            </a:r>
          </a:p>
        </p:txBody>
      </p:sp>
      <p:sp>
        <p:nvSpPr>
          <p:cNvPr id="58" name="TextBox 57">
            <a:extLst>
              <a:ext uri="{FF2B5EF4-FFF2-40B4-BE49-F238E27FC236}">
                <a16:creationId xmlns:a16="http://schemas.microsoft.com/office/drawing/2014/main" id="{0D5DC6AE-3910-3FE2-C37B-E9EEB6408CFC}"/>
              </a:ext>
            </a:extLst>
          </p:cNvPr>
          <p:cNvSpPr txBox="1"/>
          <p:nvPr/>
        </p:nvSpPr>
        <p:spPr>
          <a:xfrm>
            <a:off x="5365650" y="4028106"/>
            <a:ext cx="13138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Composting Plant</a:t>
            </a:r>
          </a:p>
        </p:txBody>
      </p:sp>
      <p:sp>
        <p:nvSpPr>
          <p:cNvPr id="59" name="TextBox 58">
            <a:extLst>
              <a:ext uri="{FF2B5EF4-FFF2-40B4-BE49-F238E27FC236}">
                <a16:creationId xmlns:a16="http://schemas.microsoft.com/office/drawing/2014/main" id="{34511981-2C84-148B-CB38-A9E9389BF044}"/>
              </a:ext>
            </a:extLst>
          </p:cNvPr>
          <p:cNvSpPr txBox="1"/>
          <p:nvPr/>
        </p:nvSpPr>
        <p:spPr>
          <a:xfrm>
            <a:off x="8555100" y="2472643"/>
            <a:ext cx="13138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MBT (tunnel)</a:t>
            </a:r>
          </a:p>
        </p:txBody>
      </p:sp>
      <p:cxnSp>
        <p:nvCxnSpPr>
          <p:cNvPr id="60" name="Straight Connector 59">
            <a:extLst>
              <a:ext uri="{FF2B5EF4-FFF2-40B4-BE49-F238E27FC236}">
                <a16:creationId xmlns:a16="http://schemas.microsoft.com/office/drawing/2014/main" id="{E1988A7E-69B1-2538-2AF1-20453AEBE91C}"/>
              </a:ext>
            </a:extLst>
          </p:cNvPr>
          <p:cNvCxnSpPr>
            <a:cxnSpLocks/>
          </p:cNvCxnSpPr>
          <p:nvPr/>
        </p:nvCxnSpPr>
        <p:spPr>
          <a:xfrm flipV="1">
            <a:off x="6762806" y="1741649"/>
            <a:ext cx="0" cy="138095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61" name="Picture 60" descr="A black background with a black square&#10;&#10;Description automatically generated with medium confidence">
            <a:extLst>
              <a:ext uri="{FF2B5EF4-FFF2-40B4-BE49-F238E27FC236}">
                <a16:creationId xmlns:a16="http://schemas.microsoft.com/office/drawing/2014/main" id="{F9BB94C4-A325-6E73-2973-E4832CC6863D}"/>
              </a:ext>
            </a:extLst>
          </p:cNvPr>
          <p:cNvPicPr>
            <a:picLocks noChangeAspect="1"/>
          </p:cNvPicPr>
          <p:nvPr/>
        </p:nvPicPr>
        <p:blipFill>
          <a:blip r:embed="rId21">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flipH="1">
            <a:off x="10846324" y="4474934"/>
            <a:ext cx="747903" cy="741410"/>
          </a:xfrm>
          <a:prstGeom prst="rect">
            <a:avLst/>
          </a:prstGeom>
        </p:spPr>
      </p:pic>
      <p:sp>
        <p:nvSpPr>
          <p:cNvPr id="62" name="TextBox 61">
            <a:extLst>
              <a:ext uri="{FF2B5EF4-FFF2-40B4-BE49-F238E27FC236}">
                <a16:creationId xmlns:a16="http://schemas.microsoft.com/office/drawing/2014/main" id="{B3305D27-71FC-21EE-A28E-FEEF88806058}"/>
              </a:ext>
            </a:extLst>
          </p:cNvPr>
          <p:cNvSpPr txBox="1"/>
          <p:nvPr/>
        </p:nvSpPr>
        <p:spPr>
          <a:xfrm>
            <a:off x="8605601" y="1095723"/>
            <a:ext cx="13138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Recycling Market</a:t>
            </a:r>
          </a:p>
        </p:txBody>
      </p:sp>
      <p:cxnSp>
        <p:nvCxnSpPr>
          <p:cNvPr id="63" name="Straight Connector 62">
            <a:extLst>
              <a:ext uri="{FF2B5EF4-FFF2-40B4-BE49-F238E27FC236}">
                <a16:creationId xmlns:a16="http://schemas.microsoft.com/office/drawing/2014/main" id="{89B55B83-F76C-DE4E-CB72-A307C929415F}"/>
              </a:ext>
            </a:extLst>
          </p:cNvPr>
          <p:cNvCxnSpPr>
            <a:cxnSpLocks/>
          </p:cNvCxnSpPr>
          <p:nvPr/>
        </p:nvCxnSpPr>
        <p:spPr>
          <a:xfrm flipV="1">
            <a:off x="9197895" y="3220848"/>
            <a:ext cx="0" cy="537526"/>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85790DD8-CC8E-15C8-03B2-338149F458B1}"/>
              </a:ext>
            </a:extLst>
          </p:cNvPr>
          <p:cNvCxnSpPr>
            <a:cxnSpLocks/>
          </p:cNvCxnSpPr>
          <p:nvPr/>
        </p:nvCxnSpPr>
        <p:spPr>
          <a:xfrm flipV="1">
            <a:off x="9197895" y="3789037"/>
            <a:ext cx="0" cy="1092949"/>
          </a:xfrm>
          <a:prstGeom prst="line">
            <a:avLst/>
          </a:prstGeom>
          <a:ln w="19050">
            <a:solidFill>
              <a:schemeClr val="bg2">
                <a:lumMod val="75000"/>
              </a:schemeClr>
            </a:solidFill>
            <a:prstDash val="dash"/>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3DE6710D-4681-E1A1-6699-70D2933CEB4B}"/>
              </a:ext>
            </a:extLst>
          </p:cNvPr>
          <p:cNvCxnSpPr>
            <a:cxnSpLocks/>
          </p:cNvCxnSpPr>
          <p:nvPr/>
        </p:nvCxnSpPr>
        <p:spPr>
          <a:xfrm>
            <a:off x="9616503" y="2954513"/>
            <a:ext cx="1145078" cy="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3D75784F-34F8-2847-714F-B95D8DC5B16F}"/>
              </a:ext>
            </a:extLst>
          </p:cNvPr>
          <p:cNvCxnSpPr>
            <a:cxnSpLocks/>
          </p:cNvCxnSpPr>
          <p:nvPr/>
        </p:nvCxnSpPr>
        <p:spPr>
          <a:xfrm>
            <a:off x="9207978" y="4881986"/>
            <a:ext cx="1553603" cy="0"/>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70AF4EEB-A9FD-BC83-E182-13D4BDCEEE5A}"/>
              </a:ext>
            </a:extLst>
          </p:cNvPr>
          <p:cNvSpPr txBox="1"/>
          <p:nvPr/>
        </p:nvSpPr>
        <p:spPr>
          <a:xfrm>
            <a:off x="10517067" y="2173458"/>
            <a:ext cx="13138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RDF/ </a:t>
            </a:r>
            <a:r>
              <a:rPr kumimoji="0" lang="en-GB" sz="1000" b="1" i="0" u="none" strike="noStrike" kern="1200" cap="none" spc="0" normalizeH="0" baseline="0" noProof="0" dirty="0" err="1">
                <a:ln>
                  <a:noFill/>
                </a:ln>
                <a:solidFill>
                  <a:prstClr val="black"/>
                </a:solidFill>
                <a:effectLst/>
                <a:uLnTx/>
                <a:uFillTx/>
                <a:latin typeface="Century Gothic" panose="020B0502020202020204" pitchFamily="34" charset="0"/>
                <a:ea typeface="+mn-ea"/>
                <a:cs typeface="+mn-cs"/>
              </a:rPr>
              <a:t>WtE</a:t>
            </a:r>
            <a:endPar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endParaRPr>
          </a:p>
        </p:txBody>
      </p:sp>
      <p:sp>
        <p:nvSpPr>
          <p:cNvPr id="68" name="TextBox 67">
            <a:extLst>
              <a:ext uri="{FF2B5EF4-FFF2-40B4-BE49-F238E27FC236}">
                <a16:creationId xmlns:a16="http://schemas.microsoft.com/office/drawing/2014/main" id="{9060B638-AACA-1446-93E1-7C7BC60C8F47}"/>
              </a:ext>
            </a:extLst>
          </p:cNvPr>
          <p:cNvSpPr txBox="1"/>
          <p:nvPr/>
        </p:nvSpPr>
        <p:spPr>
          <a:xfrm>
            <a:off x="10517067" y="4240975"/>
            <a:ext cx="131389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Landfill</a:t>
            </a:r>
          </a:p>
        </p:txBody>
      </p:sp>
      <p:sp>
        <p:nvSpPr>
          <p:cNvPr id="69" name="TextBox 68">
            <a:extLst>
              <a:ext uri="{FF2B5EF4-FFF2-40B4-BE49-F238E27FC236}">
                <a16:creationId xmlns:a16="http://schemas.microsoft.com/office/drawing/2014/main" id="{BD3CC9F8-5E5B-8DF9-9ECF-B899726646B7}"/>
              </a:ext>
            </a:extLst>
          </p:cNvPr>
          <p:cNvSpPr txBox="1"/>
          <p:nvPr/>
        </p:nvSpPr>
        <p:spPr>
          <a:xfrm>
            <a:off x="6041634" y="4903253"/>
            <a:ext cx="94798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black"/>
                </a:solidFill>
                <a:effectLst/>
                <a:uLnTx/>
                <a:uFillTx/>
                <a:latin typeface="Century Gothic" panose="020B0502020202020204" pitchFamily="34" charset="0"/>
                <a:ea typeface="+mn-ea"/>
                <a:cs typeface="+mn-cs"/>
              </a:rPr>
              <a:t>Anaerobic Digestion</a:t>
            </a:r>
          </a:p>
        </p:txBody>
      </p:sp>
      <p:sp>
        <p:nvSpPr>
          <p:cNvPr id="70" name="TextBox 69">
            <a:extLst>
              <a:ext uri="{FF2B5EF4-FFF2-40B4-BE49-F238E27FC236}">
                <a16:creationId xmlns:a16="http://schemas.microsoft.com/office/drawing/2014/main" id="{BAF7DD8F-4816-CF2A-697B-BA6D122098C4}"/>
              </a:ext>
            </a:extLst>
          </p:cNvPr>
          <p:cNvSpPr txBox="1"/>
          <p:nvPr/>
        </p:nvSpPr>
        <p:spPr>
          <a:xfrm>
            <a:off x="3457134" y="1258365"/>
            <a:ext cx="203053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70AD47">
                    <a:lumMod val="50000"/>
                  </a:srgbClr>
                </a:solidFill>
                <a:effectLst/>
                <a:uLnTx/>
                <a:uFillTx/>
                <a:latin typeface="Century Gothic" panose="020B0502020202020204" pitchFamily="34" charset="0"/>
                <a:ea typeface="+mn-ea"/>
                <a:cs typeface="+mn-cs"/>
              </a:rPr>
              <a:t>24.8 % Recycling</a:t>
            </a:r>
          </a:p>
        </p:txBody>
      </p:sp>
      <p:sp>
        <p:nvSpPr>
          <p:cNvPr id="71" name="TextBox 70">
            <a:extLst>
              <a:ext uri="{FF2B5EF4-FFF2-40B4-BE49-F238E27FC236}">
                <a16:creationId xmlns:a16="http://schemas.microsoft.com/office/drawing/2014/main" id="{5EF08EF2-1290-4EB2-11D0-CF5CDC731688}"/>
              </a:ext>
            </a:extLst>
          </p:cNvPr>
          <p:cNvSpPr txBox="1"/>
          <p:nvPr/>
        </p:nvSpPr>
        <p:spPr>
          <a:xfrm>
            <a:off x="10547917" y="5216344"/>
            <a:ext cx="141143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70AD47">
                    <a:lumMod val="50000"/>
                  </a:srgbClr>
                </a:solidFill>
                <a:effectLst/>
                <a:uLnTx/>
                <a:uFillTx/>
                <a:latin typeface="Century Gothic" panose="020B0502020202020204" pitchFamily="34" charset="0"/>
                <a:ea typeface="+mn-ea"/>
                <a:cs typeface="+mn-cs"/>
              </a:rPr>
              <a:t>20% Landfilled</a:t>
            </a:r>
          </a:p>
        </p:txBody>
      </p:sp>
      <p:sp>
        <p:nvSpPr>
          <p:cNvPr id="72" name="TextBox 71">
            <a:extLst>
              <a:ext uri="{FF2B5EF4-FFF2-40B4-BE49-F238E27FC236}">
                <a16:creationId xmlns:a16="http://schemas.microsoft.com/office/drawing/2014/main" id="{DCD3979F-565B-934E-E046-62D83B446B5A}"/>
              </a:ext>
            </a:extLst>
          </p:cNvPr>
          <p:cNvSpPr txBox="1"/>
          <p:nvPr/>
        </p:nvSpPr>
        <p:spPr>
          <a:xfrm>
            <a:off x="5416139" y="5296849"/>
            <a:ext cx="1952792" cy="276999"/>
          </a:xfrm>
          <a:prstGeom prst="rect">
            <a:avLst/>
          </a:prstGeom>
          <a:noFill/>
        </p:spPr>
        <p:txBody>
          <a:bodyPr wrap="square" rtlCol="0">
            <a:spAutoFit/>
          </a:bodyPr>
          <a:lstStyle>
            <a:defPPr>
              <a:defRPr lang="en-US"/>
            </a:defPPr>
            <a:lvl1pPr>
              <a:defRPr sz="1200" b="1">
                <a:solidFill>
                  <a:schemeClr val="accent2">
                    <a:lumMod val="50000"/>
                  </a:schemeClr>
                </a:solidFill>
                <a:latin typeface="Century Gothic" panose="020B0502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70AD47">
                    <a:lumMod val="50000"/>
                  </a:srgbClr>
                </a:solidFill>
                <a:effectLst/>
                <a:uLnTx/>
                <a:uFillTx/>
                <a:latin typeface="Century Gothic" panose="020B0502020202020204" pitchFamily="34" charset="0"/>
                <a:ea typeface="+mn-ea"/>
                <a:cs typeface="+mn-cs"/>
              </a:rPr>
              <a:t>6.3 % Recycling</a:t>
            </a:r>
          </a:p>
        </p:txBody>
      </p:sp>
      <p:sp>
        <p:nvSpPr>
          <p:cNvPr id="73" name="TextBox 72">
            <a:extLst>
              <a:ext uri="{FF2B5EF4-FFF2-40B4-BE49-F238E27FC236}">
                <a16:creationId xmlns:a16="http://schemas.microsoft.com/office/drawing/2014/main" id="{A2096263-E912-F286-223E-18F9F1137E8D}"/>
              </a:ext>
            </a:extLst>
          </p:cNvPr>
          <p:cNvSpPr txBox="1"/>
          <p:nvPr/>
        </p:nvSpPr>
        <p:spPr>
          <a:xfrm>
            <a:off x="2906155" y="5609820"/>
            <a:ext cx="1952792" cy="276999"/>
          </a:xfrm>
          <a:prstGeom prst="rect">
            <a:avLst/>
          </a:prstGeom>
          <a:noFill/>
        </p:spPr>
        <p:txBody>
          <a:bodyPr wrap="square" rtlCol="0">
            <a:spAutoFit/>
          </a:bodyPr>
          <a:lstStyle>
            <a:defPPr>
              <a:defRPr lang="en-US"/>
            </a:defPPr>
            <a:lvl1pPr>
              <a:defRPr sz="1200" b="1">
                <a:solidFill>
                  <a:schemeClr val="accent2">
                    <a:lumMod val="50000"/>
                  </a:schemeClr>
                </a:solidFill>
                <a:latin typeface="Century Gothic" panose="020B0502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70AD47">
                    <a:lumMod val="50000"/>
                  </a:srgbClr>
                </a:solidFill>
                <a:effectLst/>
                <a:uLnTx/>
                <a:uFillTx/>
                <a:latin typeface="Century Gothic" panose="020B0502020202020204" pitchFamily="34" charset="0"/>
                <a:ea typeface="+mn-ea"/>
                <a:cs typeface="+mn-cs"/>
              </a:rPr>
              <a:t>9.5 % Recycling</a:t>
            </a:r>
          </a:p>
        </p:txBody>
      </p:sp>
      <p:sp>
        <p:nvSpPr>
          <p:cNvPr id="74" name="TextBox 73">
            <a:extLst>
              <a:ext uri="{FF2B5EF4-FFF2-40B4-BE49-F238E27FC236}">
                <a16:creationId xmlns:a16="http://schemas.microsoft.com/office/drawing/2014/main" id="{E54AE88D-7AED-FC92-831E-08167577C069}"/>
              </a:ext>
            </a:extLst>
          </p:cNvPr>
          <p:cNvSpPr txBox="1"/>
          <p:nvPr/>
        </p:nvSpPr>
        <p:spPr>
          <a:xfrm>
            <a:off x="6896516" y="1370430"/>
            <a:ext cx="206655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70AD47">
                    <a:lumMod val="50000"/>
                  </a:srgbClr>
                </a:solidFill>
                <a:effectLst/>
                <a:uLnTx/>
                <a:uFillTx/>
                <a:latin typeface="Century Gothic" panose="020B0502020202020204" pitchFamily="34" charset="0"/>
                <a:ea typeface="+mn-ea"/>
                <a:cs typeface="+mn-cs"/>
              </a:rPr>
              <a:t>Recycling Total: 50%</a:t>
            </a:r>
          </a:p>
        </p:txBody>
      </p:sp>
      <p:sp>
        <p:nvSpPr>
          <p:cNvPr id="75" name="TextBox 74">
            <a:extLst>
              <a:ext uri="{FF2B5EF4-FFF2-40B4-BE49-F238E27FC236}">
                <a16:creationId xmlns:a16="http://schemas.microsoft.com/office/drawing/2014/main" id="{D001628A-1145-64B4-337D-AF0AFDE23D23}"/>
              </a:ext>
            </a:extLst>
          </p:cNvPr>
          <p:cNvSpPr txBox="1"/>
          <p:nvPr/>
        </p:nvSpPr>
        <p:spPr>
          <a:xfrm>
            <a:off x="7426146" y="2725385"/>
            <a:ext cx="1400974" cy="276999"/>
          </a:xfrm>
          <a:prstGeom prst="rect">
            <a:avLst/>
          </a:prstGeom>
          <a:noFill/>
        </p:spPr>
        <p:txBody>
          <a:bodyPr wrap="square" rtlCol="0">
            <a:spAutoFit/>
          </a:bodyPr>
          <a:lstStyle>
            <a:defPPr>
              <a:defRPr lang="en-US"/>
            </a:defPPr>
            <a:lvl1pPr>
              <a:defRPr sz="1200" b="1">
                <a:solidFill>
                  <a:schemeClr val="accent2">
                    <a:lumMod val="50000"/>
                  </a:schemeClr>
                </a:solidFill>
                <a:latin typeface="Century Gothic" panose="020B0502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70AD47">
                    <a:lumMod val="50000"/>
                  </a:srgbClr>
                </a:solidFill>
                <a:effectLst/>
                <a:uLnTx/>
                <a:uFillTx/>
                <a:latin typeface="Century Gothic" panose="020B0502020202020204" pitchFamily="34" charset="0"/>
                <a:ea typeface="+mn-ea"/>
                <a:cs typeface="+mn-cs"/>
              </a:rPr>
              <a:t>6.2 % Recycling</a:t>
            </a:r>
          </a:p>
        </p:txBody>
      </p:sp>
      <p:sp>
        <p:nvSpPr>
          <p:cNvPr id="76" name="TextBox 75">
            <a:extLst>
              <a:ext uri="{FF2B5EF4-FFF2-40B4-BE49-F238E27FC236}">
                <a16:creationId xmlns:a16="http://schemas.microsoft.com/office/drawing/2014/main" id="{54FE154C-5662-9B6F-97B7-CBB7469A1FB0}"/>
              </a:ext>
            </a:extLst>
          </p:cNvPr>
          <p:cNvSpPr txBox="1"/>
          <p:nvPr/>
        </p:nvSpPr>
        <p:spPr>
          <a:xfrm>
            <a:off x="6470029" y="4286830"/>
            <a:ext cx="1952792" cy="276999"/>
          </a:xfrm>
          <a:prstGeom prst="rect">
            <a:avLst/>
          </a:prstGeom>
          <a:noFill/>
        </p:spPr>
        <p:txBody>
          <a:bodyPr wrap="square" rtlCol="0">
            <a:spAutoFit/>
          </a:bodyPr>
          <a:lstStyle>
            <a:defPPr>
              <a:defRPr lang="en-US"/>
            </a:defPPr>
            <a:lvl1pPr>
              <a:defRPr sz="1200" b="1">
                <a:solidFill>
                  <a:schemeClr val="accent2">
                    <a:lumMod val="50000"/>
                  </a:schemeClr>
                </a:solidFill>
                <a:latin typeface="Century Gothic" panose="020B0502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70AD47">
                    <a:lumMod val="50000"/>
                  </a:srgbClr>
                </a:solidFill>
                <a:effectLst/>
                <a:uLnTx/>
                <a:uFillTx/>
                <a:latin typeface="Century Gothic" panose="020B0502020202020204" pitchFamily="34" charset="0"/>
                <a:ea typeface="+mn-ea"/>
                <a:cs typeface="+mn-cs"/>
              </a:rPr>
              <a:t>3.3 % Recycling</a:t>
            </a:r>
          </a:p>
        </p:txBody>
      </p:sp>
      <p:cxnSp>
        <p:nvCxnSpPr>
          <p:cNvPr id="77" name="Straight Connector 76">
            <a:extLst>
              <a:ext uri="{FF2B5EF4-FFF2-40B4-BE49-F238E27FC236}">
                <a16:creationId xmlns:a16="http://schemas.microsoft.com/office/drawing/2014/main" id="{BFAFA809-51AE-AE5D-16BA-C29A1F15B0B9}"/>
              </a:ext>
            </a:extLst>
          </p:cNvPr>
          <p:cNvCxnSpPr>
            <a:cxnSpLocks/>
          </p:cNvCxnSpPr>
          <p:nvPr/>
        </p:nvCxnSpPr>
        <p:spPr>
          <a:xfrm>
            <a:off x="6910613" y="3113135"/>
            <a:ext cx="1579043" cy="2824"/>
          </a:xfrm>
          <a:prstGeom prst="line">
            <a:avLst/>
          </a:prstGeom>
          <a:ln w="19050">
            <a:solidFill>
              <a:schemeClr val="bg2">
                <a:lumMod val="75000"/>
              </a:schemeClr>
            </a:solidFill>
            <a:prstDash val="dash"/>
            <a:headEnd type="none" w="med" len="med"/>
            <a:tailEnd type="arrow"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853860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336FE-3E0C-A077-0174-EA08736EFA91}"/>
            </a:ext>
          </a:extLst>
        </p:cNvPr>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535A3AE3-B2A6-EF0D-DCC1-D4DC1B409A44}"/>
              </a:ext>
            </a:extLst>
          </p:cNvPr>
          <p:cNvPicPr>
            <a:picLocks noChangeAspect="1"/>
          </p:cNvPicPr>
          <p:nvPr/>
        </p:nvPicPr>
        <p:blipFill>
          <a:blip r:embed="rId2"/>
          <a:srcRect b="5760"/>
          <a:stretch>
            <a:fillRect/>
          </a:stretch>
        </p:blipFill>
        <p:spPr>
          <a:xfrm>
            <a:off x="624816" y="528700"/>
            <a:ext cx="10942367" cy="5800600"/>
          </a:xfrm>
          <a:prstGeom prst="rect">
            <a:avLst/>
          </a:prstGeom>
        </p:spPr>
      </p:pic>
    </p:spTree>
    <p:extLst>
      <p:ext uri="{BB962C8B-B14F-4D97-AF65-F5344CB8AC3E}">
        <p14:creationId xmlns:p14="http://schemas.microsoft.com/office/powerpoint/2010/main" val="40948204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B110C-E0F9-0E34-17E8-4F90254F42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EF15C6-F03C-8516-A21F-6ABAA6246002}"/>
              </a:ext>
            </a:extLst>
          </p:cNvPr>
          <p:cNvSpPr txBox="1"/>
          <p:nvPr/>
        </p:nvSpPr>
        <p:spPr>
          <a:xfrm>
            <a:off x="486269" y="364462"/>
            <a:ext cx="9766151" cy="830997"/>
          </a:xfrm>
          <a:prstGeom prst="rect">
            <a:avLst/>
          </a:prstGeom>
          <a:noFill/>
        </p:spPr>
        <p:txBody>
          <a:bodyPr wrap="square">
            <a:spAutoFit/>
          </a:bodyPr>
          <a:lstStyle/>
          <a:p>
            <a:r>
              <a:rPr lang="en-GB" sz="4800" b="1" noProof="0" dirty="0">
                <a:solidFill>
                  <a:srgbClr val="709F51"/>
                </a:solidFill>
                <a:latin typeface="PT Sans" panose="020B0503020203020204" pitchFamily="34" charset="77"/>
              </a:rPr>
              <a:t>Way Forward</a:t>
            </a:r>
          </a:p>
        </p:txBody>
      </p:sp>
      <p:sp>
        <p:nvSpPr>
          <p:cNvPr id="3" name="Content Placeholder 2">
            <a:extLst>
              <a:ext uri="{FF2B5EF4-FFF2-40B4-BE49-F238E27FC236}">
                <a16:creationId xmlns:a16="http://schemas.microsoft.com/office/drawing/2014/main" id="{AA47C964-A73A-31BA-724D-9C2EC984E8F8}"/>
              </a:ext>
            </a:extLst>
          </p:cNvPr>
          <p:cNvSpPr txBox="1">
            <a:spLocks/>
          </p:cNvSpPr>
          <p:nvPr/>
        </p:nvSpPr>
        <p:spPr>
          <a:xfrm>
            <a:off x="792279" y="1639882"/>
            <a:ext cx="10607441" cy="307377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GB" sz="1800" noProof="0" dirty="0">
                <a:solidFill>
                  <a:schemeClr val="tx1"/>
                </a:solidFill>
                <a:latin typeface="PT Sans" panose="020B0503020203020204" pitchFamily="34" charset="77"/>
              </a:rPr>
              <a:t>The new Law on Integrated Waste Management establishes the foundation for a comprehensive transformation of the sector, </a:t>
            </a:r>
            <a:r>
              <a:rPr lang="en-GB" sz="1800" b="1" noProof="0" dirty="0">
                <a:solidFill>
                  <a:schemeClr val="tx1"/>
                </a:solidFill>
                <a:latin typeface="PT Sans" panose="020B0503020203020204" pitchFamily="34" charset="77"/>
              </a:rPr>
              <a:t>translating policy objectives into a strong legal framework </a:t>
            </a:r>
            <a:r>
              <a:rPr lang="en-GB" sz="1800" noProof="0" dirty="0">
                <a:solidFill>
                  <a:schemeClr val="tx1"/>
                </a:solidFill>
                <a:latin typeface="PT Sans" panose="020B0503020203020204" pitchFamily="34" charset="77"/>
              </a:rPr>
              <a:t>that drives Kosovo toward circular economy.</a:t>
            </a:r>
          </a:p>
          <a:p>
            <a:pPr algn="l"/>
            <a:r>
              <a:rPr lang="en-GB" sz="1800" noProof="0" dirty="0">
                <a:solidFill>
                  <a:schemeClr val="tx1"/>
                </a:solidFill>
                <a:latin typeface="PT Sans" panose="020B0503020203020204" pitchFamily="34" charset="77"/>
              </a:rPr>
              <a:t> </a:t>
            </a:r>
          </a:p>
          <a:p>
            <a:pPr algn="l"/>
            <a:r>
              <a:rPr lang="en-GB" sz="1800" noProof="0" dirty="0">
                <a:solidFill>
                  <a:schemeClr val="tx1"/>
                </a:solidFill>
                <a:latin typeface="PT Sans" panose="020B0503020203020204" pitchFamily="34" charset="77"/>
              </a:rPr>
              <a:t>It will ensure:</a:t>
            </a:r>
          </a:p>
          <a:p>
            <a:pPr marL="342900" indent="-342900" algn="l">
              <a:buFont typeface="Arial" panose="020B0604020202020204" pitchFamily="34" charset="0"/>
              <a:buChar char="•"/>
            </a:pPr>
            <a:r>
              <a:rPr lang="en-GB" sz="1800" noProof="0" dirty="0">
                <a:solidFill>
                  <a:schemeClr val="tx1"/>
                </a:solidFill>
                <a:latin typeface="PT Sans" panose="020B0503020203020204" pitchFamily="34" charset="77"/>
              </a:rPr>
              <a:t>Environmental protection</a:t>
            </a:r>
          </a:p>
          <a:p>
            <a:pPr marL="342900" indent="-342900" algn="l">
              <a:buFont typeface="Arial" panose="020B0604020202020204" pitchFamily="34" charset="0"/>
              <a:buChar char="•"/>
            </a:pPr>
            <a:r>
              <a:rPr lang="en-GB" sz="1800" noProof="0" dirty="0">
                <a:solidFill>
                  <a:schemeClr val="tx1"/>
                </a:solidFill>
                <a:latin typeface="PT Sans" panose="020B0503020203020204" pitchFamily="34" charset="77"/>
              </a:rPr>
              <a:t>Promote economic opportunities and</a:t>
            </a:r>
          </a:p>
          <a:p>
            <a:pPr marL="342900" indent="-342900" algn="l">
              <a:buFont typeface="Arial" panose="020B0604020202020204" pitchFamily="34" charset="0"/>
              <a:buChar char="•"/>
            </a:pPr>
            <a:r>
              <a:rPr lang="en-GB" sz="1800" noProof="0" dirty="0">
                <a:solidFill>
                  <a:schemeClr val="tx1"/>
                </a:solidFill>
                <a:latin typeface="PT Sans" panose="020B0503020203020204" pitchFamily="34" charset="77"/>
              </a:rPr>
              <a:t>Strengthen social inclusion and shared responsibility.</a:t>
            </a:r>
          </a:p>
        </p:txBody>
      </p:sp>
      <p:sp>
        <p:nvSpPr>
          <p:cNvPr id="11" name="Rectangle 10">
            <a:extLst>
              <a:ext uri="{FF2B5EF4-FFF2-40B4-BE49-F238E27FC236}">
                <a16:creationId xmlns:a16="http://schemas.microsoft.com/office/drawing/2014/main" id="{7C580795-3D1C-74D8-54D8-3DCB9B0123A5}"/>
              </a:ext>
            </a:extLst>
          </p:cNvPr>
          <p:cNvSpPr/>
          <p:nvPr/>
        </p:nvSpPr>
        <p:spPr>
          <a:xfrm>
            <a:off x="5638800" y="5675085"/>
            <a:ext cx="5760921" cy="9525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57A1400D-4C93-11FC-8301-9DFF78449CD4}"/>
              </a:ext>
            </a:extLst>
          </p:cNvPr>
          <p:cNvSpPr/>
          <p:nvPr/>
        </p:nvSpPr>
        <p:spPr>
          <a:xfrm rot="5400000">
            <a:off x="11400939" y="5601653"/>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D3296D47-15B8-3480-1153-285DC7B85DD9}"/>
              </a:ext>
            </a:extLst>
          </p:cNvPr>
          <p:cNvSpPr/>
          <p:nvPr/>
        </p:nvSpPr>
        <p:spPr>
          <a:xfrm>
            <a:off x="6601356" y="5212639"/>
            <a:ext cx="1000799" cy="1007999"/>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Nov-Dec </a:t>
            </a:r>
          </a:p>
          <a:p>
            <a:pPr algn="ctr"/>
            <a:r>
              <a:rPr lang="en-GB" sz="1600" b="1" noProof="0" dirty="0">
                <a:solidFill>
                  <a:schemeClr val="tx2"/>
                </a:solidFill>
                <a:latin typeface="PT Sans" panose="020B0503020203020204" pitchFamily="34" charset="77"/>
              </a:rPr>
              <a:t>2025</a:t>
            </a:r>
          </a:p>
        </p:txBody>
      </p:sp>
      <p:sp>
        <p:nvSpPr>
          <p:cNvPr id="5" name="Oval 4">
            <a:extLst>
              <a:ext uri="{FF2B5EF4-FFF2-40B4-BE49-F238E27FC236}">
                <a16:creationId xmlns:a16="http://schemas.microsoft.com/office/drawing/2014/main" id="{27378302-694A-20A9-C892-2C27DD749521}"/>
              </a:ext>
            </a:extLst>
          </p:cNvPr>
          <p:cNvSpPr/>
          <p:nvPr/>
        </p:nvSpPr>
        <p:spPr>
          <a:xfrm>
            <a:off x="8925628" y="5218118"/>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Aug-Sep 2026</a:t>
            </a:r>
            <a:endParaRPr lang="en-GB" sz="600" b="1" noProof="0" dirty="0">
              <a:solidFill>
                <a:schemeClr val="tx2"/>
              </a:solidFill>
              <a:latin typeface="PT Sans" panose="020B0503020203020204" pitchFamily="34" charset="77"/>
            </a:endParaRPr>
          </a:p>
        </p:txBody>
      </p:sp>
      <p:sp>
        <p:nvSpPr>
          <p:cNvPr id="6" name="Oval 5">
            <a:extLst>
              <a:ext uri="{FF2B5EF4-FFF2-40B4-BE49-F238E27FC236}">
                <a16:creationId xmlns:a16="http://schemas.microsoft.com/office/drawing/2014/main" id="{290D6071-9631-BFB2-1D06-D9C4B0459211}"/>
              </a:ext>
            </a:extLst>
          </p:cNvPr>
          <p:cNvSpPr/>
          <p:nvPr/>
        </p:nvSpPr>
        <p:spPr>
          <a:xfrm>
            <a:off x="7763272" y="5218118"/>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2"/>
                </a:solidFill>
                <a:latin typeface="PT Sans" panose="020B0503020203020204" pitchFamily="34" charset="77"/>
              </a:rPr>
              <a:t>Feb-Mar</a:t>
            </a:r>
            <a:br>
              <a:rPr lang="en-GB" sz="1600" b="1" noProof="0" dirty="0">
                <a:solidFill>
                  <a:schemeClr val="tx2"/>
                </a:solidFill>
                <a:latin typeface="PT Sans" panose="020B0503020203020204" pitchFamily="34" charset="77"/>
              </a:rPr>
            </a:br>
            <a:r>
              <a:rPr lang="en-GB" sz="1600" b="1" noProof="0" dirty="0">
                <a:solidFill>
                  <a:schemeClr val="tx2"/>
                </a:solidFill>
                <a:latin typeface="PT Sans" panose="020B0503020203020204" pitchFamily="34" charset="77"/>
              </a:rPr>
              <a:t>2026</a:t>
            </a:r>
            <a:endParaRPr lang="en-GB" sz="600" b="1" noProof="0" dirty="0">
              <a:solidFill>
                <a:schemeClr val="tx2"/>
              </a:solidFill>
              <a:latin typeface="PT Sans" panose="020B0503020203020204" pitchFamily="34" charset="77"/>
            </a:endParaRPr>
          </a:p>
        </p:txBody>
      </p:sp>
      <p:sp>
        <p:nvSpPr>
          <p:cNvPr id="7" name="Oval 6">
            <a:extLst>
              <a:ext uri="{FF2B5EF4-FFF2-40B4-BE49-F238E27FC236}">
                <a16:creationId xmlns:a16="http://schemas.microsoft.com/office/drawing/2014/main" id="{1577E409-57AB-5CDB-C48E-CE0C1CBF9445}"/>
              </a:ext>
            </a:extLst>
          </p:cNvPr>
          <p:cNvSpPr/>
          <p:nvPr/>
        </p:nvSpPr>
        <p:spPr>
          <a:xfrm>
            <a:off x="10084071" y="5204280"/>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Feb-Mar 2027</a:t>
            </a:r>
            <a:endParaRPr lang="en-GB" sz="600" b="1" noProof="0" dirty="0">
              <a:solidFill>
                <a:schemeClr val="tx2"/>
              </a:solidFill>
              <a:latin typeface="PT Sans" panose="020B0503020203020204" pitchFamily="34" charset="77"/>
            </a:endParaRPr>
          </a:p>
        </p:txBody>
      </p:sp>
    </p:spTree>
    <p:extLst>
      <p:ext uri="{BB962C8B-B14F-4D97-AF65-F5344CB8AC3E}">
        <p14:creationId xmlns:p14="http://schemas.microsoft.com/office/powerpoint/2010/main" val="11256253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1AC3A-3BA9-4084-0FB6-2F8F6693453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90BD6E2-3696-236B-E0F2-946A4557794B}"/>
              </a:ext>
            </a:extLst>
          </p:cNvPr>
          <p:cNvSpPr txBox="1"/>
          <p:nvPr/>
        </p:nvSpPr>
        <p:spPr>
          <a:xfrm>
            <a:off x="717330" y="408344"/>
            <a:ext cx="10757338" cy="1354217"/>
          </a:xfrm>
          <a:prstGeom prst="rect">
            <a:avLst/>
          </a:prstGeom>
          <a:noFill/>
        </p:spPr>
        <p:txBody>
          <a:bodyPr wrap="square">
            <a:spAutoFit/>
          </a:bodyPr>
          <a:lstStyle/>
          <a:p>
            <a:br>
              <a:rPr lang="en-GB" noProof="0" dirty="0">
                <a:latin typeface="PT Sans" panose="020B0503020203020204" pitchFamily="34" charset="77"/>
              </a:rPr>
            </a:br>
            <a:r>
              <a:rPr lang="en-GB" sz="1600" noProof="0" dirty="0">
                <a:latin typeface="PT Sans" panose="020B0503020203020204" pitchFamily="34" charset="77"/>
              </a:rPr>
              <a:t>Depending on the external factors the work plan may change, but the Government's goal is to take into account the proposals of the public, stakeholders and those affected by this policy throughout the process of drafting the Draft Law. Therefore, we encourage you to be as involved as possible in all phases of the consultations to ensure a Law that is applicable in practice.</a:t>
            </a:r>
          </a:p>
        </p:txBody>
      </p:sp>
      <p:sp>
        <p:nvSpPr>
          <p:cNvPr id="20" name="Rectangle 19">
            <a:extLst>
              <a:ext uri="{FF2B5EF4-FFF2-40B4-BE49-F238E27FC236}">
                <a16:creationId xmlns:a16="http://schemas.microsoft.com/office/drawing/2014/main" id="{61E7274B-7926-F0EC-86AB-38C9CF6134A9}"/>
              </a:ext>
            </a:extLst>
          </p:cNvPr>
          <p:cNvSpPr/>
          <p:nvPr/>
        </p:nvSpPr>
        <p:spPr>
          <a:xfrm>
            <a:off x="700541" y="3429000"/>
            <a:ext cx="10404255" cy="1074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124D2907-440D-1D35-0770-ED2E0A03E309}"/>
              </a:ext>
            </a:extLst>
          </p:cNvPr>
          <p:cNvSpPr/>
          <p:nvPr/>
        </p:nvSpPr>
        <p:spPr>
          <a:xfrm rot="5400000">
            <a:off x="11106015" y="3367718"/>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0117627-57D0-05D4-3AD4-13B5EC0D8244}"/>
              </a:ext>
            </a:extLst>
          </p:cNvPr>
          <p:cNvSpPr/>
          <p:nvPr/>
        </p:nvSpPr>
        <p:spPr>
          <a:xfrm>
            <a:off x="930512" y="2697904"/>
            <a:ext cx="1576800" cy="15696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noProof="0" dirty="0">
                <a:solidFill>
                  <a:schemeClr val="tx2"/>
                </a:solidFill>
                <a:latin typeface="PT Sans" panose="020B0503020203020204" pitchFamily="34" charset="77"/>
              </a:rPr>
              <a:t>Nov-Dec </a:t>
            </a:r>
          </a:p>
          <a:p>
            <a:pPr algn="ctr"/>
            <a:r>
              <a:rPr lang="en-GB" sz="2400" b="1" noProof="0" dirty="0">
                <a:solidFill>
                  <a:schemeClr val="tx2"/>
                </a:solidFill>
                <a:latin typeface="PT Sans" panose="020B0503020203020204" pitchFamily="34" charset="77"/>
              </a:rPr>
              <a:t>2025</a:t>
            </a:r>
          </a:p>
        </p:txBody>
      </p:sp>
      <p:sp>
        <p:nvSpPr>
          <p:cNvPr id="5" name="Oval 4">
            <a:extLst>
              <a:ext uri="{FF2B5EF4-FFF2-40B4-BE49-F238E27FC236}">
                <a16:creationId xmlns:a16="http://schemas.microsoft.com/office/drawing/2014/main" id="{0CD36565-1F93-6BFA-12E7-6A4570BA1ADF}"/>
              </a:ext>
            </a:extLst>
          </p:cNvPr>
          <p:cNvSpPr/>
          <p:nvPr/>
        </p:nvSpPr>
        <p:spPr>
          <a:xfrm>
            <a:off x="680068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Aug-Sep 2026</a:t>
            </a:r>
            <a:endParaRPr lang="en-GB" sz="600" b="1" noProof="0" dirty="0">
              <a:solidFill>
                <a:schemeClr val="tx2"/>
              </a:solidFill>
              <a:latin typeface="PT Sans" panose="020B0503020203020204" pitchFamily="34" charset="77"/>
            </a:endParaRPr>
          </a:p>
        </p:txBody>
      </p:sp>
      <p:sp>
        <p:nvSpPr>
          <p:cNvPr id="6" name="Oval 5">
            <a:extLst>
              <a:ext uri="{FF2B5EF4-FFF2-40B4-BE49-F238E27FC236}">
                <a16:creationId xmlns:a16="http://schemas.microsoft.com/office/drawing/2014/main" id="{421A3480-C10B-6903-FF80-0EA6D474C9FE}"/>
              </a:ext>
            </a:extLst>
          </p:cNvPr>
          <p:cNvSpPr/>
          <p:nvPr/>
        </p:nvSpPr>
        <p:spPr>
          <a:xfrm>
            <a:off x="400967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2"/>
                </a:solidFill>
                <a:latin typeface="PT Sans" panose="020B0503020203020204" pitchFamily="34" charset="77"/>
              </a:rPr>
              <a:t>Feb-Mar</a:t>
            </a:r>
            <a:br>
              <a:rPr lang="en-GB" sz="1600" b="1" noProof="0" dirty="0">
                <a:solidFill>
                  <a:schemeClr val="tx2"/>
                </a:solidFill>
                <a:latin typeface="PT Sans" panose="020B0503020203020204" pitchFamily="34" charset="77"/>
              </a:rPr>
            </a:br>
            <a:r>
              <a:rPr lang="en-GB" sz="1600" b="1" noProof="0" dirty="0">
                <a:solidFill>
                  <a:schemeClr val="tx2"/>
                </a:solidFill>
                <a:latin typeface="PT Sans" panose="020B0503020203020204" pitchFamily="34" charset="77"/>
              </a:rPr>
              <a:t>2026</a:t>
            </a:r>
            <a:endParaRPr lang="en-GB" sz="600" b="1" noProof="0" dirty="0">
              <a:solidFill>
                <a:schemeClr val="tx2"/>
              </a:solidFill>
              <a:latin typeface="PT Sans" panose="020B0503020203020204" pitchFamily="34" charset="77"/>
            </a:endParaRPr>
          </a:p>
        </p:txBody>
      </p:sp>
      <p:sp>
        <p:nvSpPr>
          <p:cNvPr id="7" name="Oval 6">
            <a:extLst>
              <a:ext uri="{FF2B5EF4-FFF2-40B4-BE49-F238E27FC236}">
                <a16:creationId xmlns:a16="http://schemas.microsoft.com/office/drawing/2014/main" id="{7ECF6901-3445-5F37-4E22-66A1BF5BF909}"/>
              </a:ext>
            </a:extLst>
          </p:cNvPr>
          <p:cNvSpPr/>
          <p:nvPr/>
        </p:nvSpPr>
        <p:spPr>
          <a:xfrm>
            <a:off x="9591702"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Feb-Mar 2027</a:t>
            </a:r>
            <a:endParaRPr lang="en-GB" sz="600" b="1" noProof="0" dirty="0">
              <a:solidFill>
                <a:schemeClr val="tx2"/>
              </a:solidFill>
              <a:latin typeface="PT Sans" panose="020B0503020203020204" pitchFamily="34" charset="77"/>
            </a:endParaRPr>
          </a:p>
        </p:txBody>
      </p:sp>
      <p:sp>
        <p:nvSpPr>
          <p:cNvPr id="8" name="Rectangle: Rounded Corners 10">
            <a:extLst>
              <a:ext uri="{FF2B5EF4-FFF2-40B4-BE49-F238E27FC236}">
                <a16:creationId xmlns:a16="http://schemas.microsoft.com/office/drawing/2014/main" id="{90DDA7C4-FB34-568F-1FC7-49522A51EDF5}"/>
              </a:ext>
            </a:extLst>
          </p:cNvPr>
          <p:cNvSpPr/>
          <p:nvPr/>
        </p:nvSpPr>
        <p:spPr>
          <a:xfrm>
            <a:off x="930512" y="43069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Development and finalization of the draft law</a:t>
            </a:r>
          </a:p>
        </p:txBody>
      </p:sp>
    </p:spTree>
    <p:extLst>
      <p:ext uri="{BB962C8B-B14F-4D97-AF65-F5344CB8AC3E}">
        <p14:creationId xmlns:p14="http://schemas.microsoft.com/office/powerpoint/2010/main" val="36710578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765B0-D8D1-266D-1C7E-8E62A757C6D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963951A-B5F7-BEBD-A7D7-D0BAEB2B0310}"/>
              </a:ext>
            </a:extLst>
          </p:cNvPr>
          <p:cNvSpPr txBox="1"/>
          <p:nvPr/>
        </p:nvSpPr>
        <p:spPr>
          <a:xfrm>
            <a:off x="717330" y="408344"/>
            <a:ext cx="10757338" cy="1354217"/>
          </a:xfrm>
          <a:prstGeom prst="rect">
            <a:avLst/>
          </a:prstGeom>
          <a:noFill/>
        </p:spPr>
        <p:txBody>
          <a:bodyPr wrap="square">
            <a:spAutoFit/>
          </a:bodyPr>
          <a:lstStyle/>
          <a:p>
            <a:br>
              <a:rPr lang="en-GB" noProof="0" dirty="0">
                <a:latin typeface="PT Sans" panose="020B0503020203020204" pitchFamily="34" charset="77"/>
              </a:rPr>
            </a:br>
            <a:r>
              <a:rPr lang="en-GB" sz="1600" noProof="0" dirty="0">
                <a:latin typeface="PT Sans" panose="020B0503020203020204" pitchFamily="34" charset="77"/>
              </a:rPr>
              <a:t>Depending on the external factors the work plan may change, but the Government's goal is to take into account the proposals of the public, stakeholders and those affected by this policy throughout the process of drafting the Draft Law. Therefore, we encourage you to be as involved as possible in all phases of the consultations to ensure a Law that is applicable in practice.</a:t>
            </a:r>
          </a:p>
        </p:txBody>
      </p:sp>
      <p:sp>
        <p:nvSpPr>
          <p:cNvPr id="19" name="Rectangle: Rounded Corners 10">
            <a:extLst>
              <a:ext uri="{FF2B5EF4-FFF2-40B4-BE49-F238E27FC236}">
                <a16:creationId xmlns:a16="http://schemas.microsoft.com/office/drawing/2014/main" id="{7C2F4B49-163D-8B6D-50DE-285C460543E9}"/>
              </a:ext>
            </a:extLst>
          </p:cNvPr>
          <p:cNvSpPr/>
          <p:nvPr/>
        </p:nvSpPr>
        <p:spPr>
          <a:xfrm>
            <a:off x="930512" y="43069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Development and finalization of the draft law</a:t>
            </a:r>
          </a:p>
        </p:txBody>
      </p:sp>
      <p:sp>
        <p:nvSpPr>
          <p:cNvPr id="20" name="Rectangle 19">
            <a:extLst>
              <a:ext uri="{FF2B5EF4-FFF2-40B4-BE49-F238E27FC236}">
                <a16:creationId xmlns:a16="http://schemas.microsoft.com/office/drawing/2014/main" id="{B250AD74-5AA1-BEA3-E73D-50E8BAF3EA37}"/>
              </a:ext>
            </a:extLst>
          </p:cNvPr>
          <p:cNvSpPr/>
          <p:nvPr/>
        </p:nvSpPr>
        <p:spPr>
          <a:xfrm>
            <a:off x="700541" y="3429000"/>
            <a:ext cx="10404255" cy="1074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656A3133-31AF-E886-5DAE-3807436764C5}"/>
              </a:ext>
            </a:extLst>
          </p:cNvPr>
          <p:cNvSpPr/>
          <p:nvPr/>
        </p:nvSpPr>
        <p:spPr>
          <a:xfrm rot="5400000">
            <a:off x="11106015" y="3367718"/>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a:extLst>
              <a:ext uri="{FF2B5EF4-FFF2-40B4-BE49-F238E27FC236}">
                <a16:creationId xmlns:a16="http://schemas.microsoft.com/office/drawing/2014/main" id="{022639B5-D820-0A14-4176-59B216F6D3C2}"/>
              </a:ext>
            </a:extLst>
          </p:cNvPr>
          <p:cNvSpPr/>
          <p:nvPr/>
        </p:nvSpPr>
        <p:spPr>
          <a:xfrm>
            <a:off x="3715247" y="2584108"/>
            <a:ext cx="1577553" cy="15696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2"/>
                </a:solidFill>
                <a:latin typeface="PT Sans" panose="020B0503020203020204" pitchFamily="34" charset="77"/>
              </a:rPr>
              <a:t>Feb-Mar</a:t>
            </a:r>
            <a:br>
              <a:rPr lang="en-GB" sz="2400" b="1" noProof="0" dirty="0">
                <a:solidFill>
                  <a:schemeClr val="tx2"/>
                </a:solidFill>
                <a:latin typeface="PT Sans" panose="020B0503020203020204" pitchFamily="34" charset="77"/>
              </a:rPr>
            </a:br>
            <a:r>
              <a:rPr lang="en-GB" sz="2400" b="1" noProof="0" dirty="0">
                <a:solidFill>
                  <a:schemeClr val="tx2"/>
                </a:solidFill>
                <a:latin typeface="PT Sans" panose="020B0503020203020204" pitchFamily="34" charset="77"/>
              </a:rPr>
              <a:t>2026</a:t>
            </a:r>
          </a:p>
        </p:txBody>
      </p:sp>
      <p:sp>
        <p:nvSpPr>
          <p:cNvPr id="3" name="Rectangle: Rounded Corners 10">
            <a:extLst>
              <a:ext uri="{FF2B5EF4-FFF2-40B4-BE49-F238E27FC236}">
                <a16:creationId xmlns:a16="http://schemas.microsoft.com/office/drawing/2014/main" id="{4EF44EF4-D757-CB3F-E741-4D9AD121C84C}"/>
              </a:ext>
            </a:extLst>
          </p:cNvPr>
          <p:cNvSpPr/>
          <p:nvPr/>
        </p:nvSpPr>
        <p:spPr>
          <a:xfrm>
            <a:off x="3721522" y="4321239"/>
            <a:ext cx="1577553" cy="1899999"/>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Approval by the Government</a:t>
            </a:r>
          </a:p>
        </p:txBody>
      </p:sp>
      <p:sp>
        <p:nvSpPr>
          <p:cNvPr id="4" name="Oval 3">
            <a:extLst>
              <a:ext uri="{FF2B5EF4-FFF2-40B4-BE49-F238E27FC236}">
                <a16:creationId xmlns:a16="http://schemas.microsoft.com/office/drawing/2014/main" id="{DB382CA1-BFDA-EFC5-A181-D1E0CC4F32FE}"/>
              </a:ext>
            </a:extLst>
          </p:cNvPr>
          <p:cNvSpPr/>
          <p:nvPr/>
        </p:nvSpPr>
        <p:spPr>
          <a:xfrm>
            <a:off x="680068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Aug-Sep 2026</a:t>
            </a:r>
            <a:endParaRPr lang="en-GB" sz="600" b="1" noProof="0" dirty="0">
              <a:solidFill>
                <a:schemeClr val="tx2"/>
              </a:solidFill>
              <a:latin typeface="PT Sans" panose="020B0503020203020204" pitchFamily="34" charset="77"/>
            </a:endParaRPr>
          </a:p>
        </p:txBody>
      </p:sp>
      <p:sp>
        <p:nvSpPr>
          <p:cNvPr id="5" name="Oval 4">
            <a:extLst>
              <a:ext uri="{FF2B5EF4-FFF2-40B4-BE49-F238E27FC236}">
                <a16:creationId xmlns:a16="http://schemas.microsoft.com/office/drawing/2014/main" id="{257E9171-286E-4173-F5D0-A4C51F67BBBF}"/>
              </a:ext>
            </a:extLst>
          </p:cNvPr>
          <p:cNvSpPr/>
          <p:nvPr/>
        </p:nvSpPr>
        <p:spPr>
          <a:xfrm>
            <a:off x="121866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Nov-Dec </a:t>
            </a:r>
          </a:p>
          <a:p>
            <a:pPr algn="ctr"/>
            <a:r>
              <a:rPr lang="en-GB" sz="1600" b="1" noProof="0" dirty="0">
                <a:solidFill>
                  <a:schemeClr val="tx2"/>
                </a:solidFill>
                <a:latin typeface="PT Sans" panose="020B0503020203020204" pitchFamily="34" charset="77"/>
              </a:rPr>
              <a:t>2025</a:t>
            </a:r>
            <a:endParaRPr lang="en-GB" sz="600" b="1" noProof="0" dirty="0">
              <a:solidFill>
                <a:schemeClr val="tx2"/>
              </a:solidFill>
              <a:latin typeface="PT Sans" panose="020B0503020203020204" pitchFamily="34" charset="77"/>
            </a:endParaRPr>
          </a:p>
        </p:txBody>
      </p:sp>
      <p:sp>
        <p:nvSpPr>
          <p:cNvPr id="6" name="Oval 5">
            <a:extLst>
              <a:ext uri="{FF2B5EF4-FFF2-40B4-BE49-F238E27FC236}">
                <a16:creationId xmlns:a16="http://schemas.microsoft.com/office/drawing/2014/main" id="{690C618C-55B1-D92B-82C4-AD57111684CB}"/>
              </a:ext>
            </a:extLst>
          </p:cNvPr>
          <p:cNvSpPr/>
          <p:nvPr/>
        </p:nvSpPr>
        <p:spPr>
          <a:xfrm>
            <a:off x="9591702"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Feb-Mar 2027</a:t>
            </a:r>
            <a:endParaRPr lang="en-GB" sz="600" b="1" noProof="0" dirty="0">
              <a:solidFill>
                <a:schemeClr val="tx2"/>
              </a:solidFill>
              <a:latin typeface="PT Sans" panose="020B0503020203020204" pitchFamily="34" charset="77"/>
            </a:endParaRPr>
          </a:p>
        </p:txBody>
      </p:sp>
    </p:spTree>
    <p:extLst>
      <p:ext uri="{BB962C8B-B14F-4D97-AF65-F5344CB8AC3E}">
        <p14:creationId xmlns:p14="http://schemas.microsoft.com/office/powerpoint/2010/main" val="220371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38D84-1561-C0B5-6AD9-5D8FB6C8900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1535645-29DD-090D-2895-6DC0174F1690}"/>
              </a:ext>
            </a:extLst>
          </p:cNvPr>
          <p:cNvSpPr txBox="1"/>
          <p:nvPr/>
        </p:nvSpPr>
        <p:spPr>
          <a:xfrm>
            <a:off x="717330" y="408344"/>
            <a:ext cx="10757338" cy="1354217"/>
          </a:xfrm>
          <a:prstGeom prst="rect">
            <a:avLst/>
          </a:prstGeom>
          <a:noFill/>
        </p:spPr>
        <p:txBody>
          <a:bodyPr wrap="square">
            <a:spAutoFit/>
          </a:bodyPr>
          <a:lstStyle/>
          <a:p>
            <a:br>
              <a:rPr lang="en-GB" noProof="0" dirty="0">
                <a:latin typeface="PT Sans" panose="020B0503020203020204" pitchFamily="34" charset="77"/>
              </a:rPr>
            </a:br>
            <a:r>
              <a:rPr lang="en-GB" sz="1600" noProof="0" dirty="0">
                <a:latin typeface="PT Sans" panose="020B0503020203020204" pitchFamily="34" charset="77"/>
              </a:rPr>
              <a:t>Depending on the external factors the work plan may change, but the Government's goal is to take into account the proposals of the public, stakeholders and those affected by this policy throughout the process of drafting the Draft Law. Therefore, we encourage you to be as involved as possible in all phases of the consultations to ensure a Law that is applicable in practice.</a:t>
            </a:r>
          </a:p>
        </p:txBody>
      </p:sp>
      <p:sp>
        <p:nvSpPr>
          <p:cNvPr id="19" name="Rectangle: Rounded Corners 10">
            <a:extLst>
              <a:ext uri="{FF2B5EF4-FFF2-40B4-BE49-F238E27FC236}">
                <a16:creationId xmlns:a16="http://schemas.microsoft.com/office/drawing/2014/main" id="{2380946E-FDDC-3453-9CBC-21755D00198E}"/>
              </a:ext>
            </a:extLst>
          </p:cNvPr>
          <p:cNvSpPr/>
          <p:nvPr/>
        </p:nvSpPr>
        <p:spPr>
          <a:xfrm>
            <a:off x="930512" y="43069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Development and finalization of the draft law</a:t>
            </a:r>
          </a:p>
        </p:txBody>
      </p:sp>
      <p:sp>
        <p:nvSpPr>
          <p:cNvPr id="20" name="Rectangle 19">
            <a:extLst>
              <a:ext uri="{FF2B5EF4-FFF2-40B4-BE49-F238E27FC236}">
                <a16:creationId xmlns:a16="http://schemas.microsoft.com/office/drawing/2014/main" id="{224A2267-011B-5B5C-7BAC-54F9F9DF71B8}"/>
              </a:ext>
            </a:extLst>
          </p:cNvPr>
          <p:cNvSpPr/>
          <p:nvPr/>
        </p:nvSpPr>
        <p:spPr>
          <a:xfrm>
            <a:off x="700541" y="3429000"/>
            <a:ext cx="10404255" cy="1074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46450C65-76FD-CC1C-6B0A-0A03600046AC}"/>
              </a:ext>
            </a:extLst>
          </p:cNvPr>
          <p:cNvSpPr/>
          <p:nvPr/>
        </p:nvSpPr>
        <p:spPr>
          <a:xfrm rot="5400000">
            <a:off x="11106015" y="3367718"/>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0E28C67-ABE0-4513-8059-DD5C1EDC1374}"/>
              </a:ext>
            </a:extLst>
          </p:cNvPr>
          <p:cNvSpPr/>
          <p:nvPr/>
        </p:nvSpPr>
        <p:spPr>
          <a:xfrm>
            <a:off x="6512533" y="2644170"/>
            <a:ext cx="1577553" cy="156966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noProof="0" dirty="0">
                <a:solidFill>
                  <a:schemeClr val="tx2"/>
                </a:solidFill>
                <a:latin typeface="PT Sans" panose="020B0503020203020204" pitchFamily="34" charset="77"/>
              </a:rPr>
              <a:t>Aug-Sep 2026</a:t>
            </a:r>
            <a:endParaRPr lang="en-GB" sz="700" b="1" noProof="0" dirty="0">
              <a:solidFill>
                <a:schemeClr val="tx2"/>
              </a:solidFill>
              <a:latin typeface="PT Sans" panose="020B0503020203020204" pitchFamily="34" charset="77"/>
            </a:endParaRPr>
          </a:p>
        </p:txBody>
      </p:sp>
      <p:sp>
        <p:nvSpPr>
          <p:cNvPr id="24" name="Oval 23">
            <a:extLst>
              <a:ext uri="{FF2B5EF4-FFF2-40B4-BE49-F238E27FC236}">
                <a16:creationId xmlns:a16="http://schemas.microsoft.com/office/drawing/2014/main" id="{A92B5325-6046-4EAA-1F30-E01888C979BD}"/>
              </a:ext>
            </a:extLst>
          </p:cNvPr>
          <p:cNvSpPr/>
          <p:nvPr/>
        </p:nvSpPr>
        <p:spPr>
          <a:xfrm>
            <a:off x="9591702"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Feb-Mar 2027</a:t>
            </a:r>
            <a:endParaRPr lang="en-GB" sz="600" b="1" noProof="0" dirty="0">
              <a:solidFill>
                <a:schemeClr val="tx2"/>
              </a:solidFill>
              <a:latin typeface="PT Sans" panose="020B0503020203020204" pitchFamily="34" charset="77"/>
            </a:endParaRPr>
          </a:p>
        </p:txBody>
      </p:sp>
      <p:sp>
        <p:nvSpPr>
          <p:cNvPr id="2" name="Oval 1">
            <a:extLst>
              <a:ext uri="{FF2B5EF4-FFF2-40B4-BE49-F238E27FC236}">
                <a16:creationId xmlns:a16="http://schemas.microsoft.com/office/drawing/2014/main" id="{F479E2DD-09BB-0FEF-EDA6-353EE254226C}"/>
              </a:ext>
            </a:extLst>
          </p:cNvPr>
          <p:cNvSpPr/>
          <p:nvPr/>
        </p:nvSpPr>
        <p:spPr>
          <a:xfrm>
            <a:off x="400967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2"/>
                </a:solidFill>
                <a:latin typeface="PT Sans" panose="020B0503020203020204" pitchFamily="34" charset="77"/>
              </a:rPr>
              <a:t>Feb-Mar</a:t>
            </a:r>
            <a:br>
              <a:rPr lang="en-GB" sz="1600" b="1" noProof="0" dirty="0">
                <a:solidFill>
                  <a:schemeClr val="tx2"/>
                </a:solidFill>
                <a:latin typeface="PT Sans" panose="020B0503020203020204" pitchFamily="34" charset="77"/>
              </a:rPr>
            </a:br>
            <a:r>
              <a:rPr lang="en-GB" sz="1600" b="1" noProof="0" dirty="0">
                <a:solidFill>
                  <a:schemeClr val="tx2"/>
                </a:solidFill>
                <a:latin typeface="PT Sans" panose="020B0503020203020204" pitchFamily="34" charset="77"/>
              </a:rPr>
              <a:t>2026</a:t>
            </a:r>
            <a:endParaRPr lang="en-GB" sz="600" b="1" noProof="0" dirty="0">
              <a:solidFill>
                <a:schemeClr val="tx2"/>
              </a:solidFill>
              <a:latin typeface="PT Sans" panose="020B0503020203020204" pitchFamily="34" charset="77"/>
            </a:endParaRPr>
          </a:p>
        </p:txBody>
      </p:sp>
      <p:sp>
        <p:nvSpPr>
          <p:cNvPr id="3" name="Rectangle: Rounded Corners 10">
            <a:extLst>
              <a:ext uri="{FF2B5EF4-FFF2-40B4-BE49-F238E27FC236}">
                <a16:creationId xmlns:a16="http://schemas.microsoft.com/office/drawing/2014/main" id="{C735B75D-BD38-036F-03CE-5BFFEBC9582F}"/>
              </a:ext>
            </a:extLst>
          </p:cNvPr>
          <p:cNvSpPr/>
          <p:nvPr/>
        </p:nvSpPr>
        <p:spPr>
          <a:xfrm>
            <a:off x="3721522" y="43212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Approval by the Government</a:t>
            </a:r>
          </a:p>
        </p:txBody>
      </p:sp>
      <p:sp>
        <p:nvSpPr>
          <p:cNvPr id="4" name="Rectangle: Rounded Corners 10">
            <a:extLst>
              <a:ext uri="{FF2B5EF4-FFF2-40B4-BE49-F238E27FC236}">
                <a16:creationId xmlns:a16="http://schemas.microsoft.com/office/drawing/2014/main" id="{8AD7E1C9-447B-D47C-04BB-F51FE05609E0}"/>
              </a:ext>
            </a:extLst>
          </p:cNvPr>
          <p:cNvSpPr/>
          <p:nvPr/>
        </p:nvSpPr>
        <p:spPr>
          <a:xfrm>
            <a:off x="6512534" y="4321239"/>
            <a:ext cx="1577553" cy="1899999"/>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Approval by the Assembly</a:t>
            </a:r>
          </a:p>
        </p:txBody>
      </p:sp>
      <p:sp>
        <p:nvSpPr>
          <p:cNvPr id="5" name="Oval 4">
            <a:extLst>
              <a:ext uri="{FF2B5EF4-FFF2-40B4-BE49-F238E27FC236}">
                <a16:creationId xmlns:a16="http://schemas.microsoft.com/office/drawing/2014/main" id="{FEC06840-1E96-F09B-D35D-50A03D2675F7}"/>
              </a:ext>
            </a:extLst>
          </p:cNvPr>
          <p:cNvSpPr/>
          <p:nvPr/>
        </p:nvSpPr>
        <p:spPr>
          <a:xfrm>
            <a:off x="121866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Nov-Dec </a:t>
            </a:r>
          </a:p>
          <a:p>
            <a:pPr algn="ctr"/>
            <a:r>
              <a:rPr lang="en-GB" sz="1600" b="1" noProof="0" dirty="0">
                <a:solidFill>
                  <a:schemeClr val="tx2"/>
                </a:solidFill>
                <a:latin typeface="PT Sans" panose="020B0503020203020204" pitchFamily="34" charset="77"/>
              </a:rPr>
              <a:t>2025</a:t>
            </a:r>
            <a:endParaRPr lang="en-GB" sz="600" b="1" noProof="0" dirty="0">
              <a:solidFill>
                <a:schemeClr val="tx2"/>
              </a:solidFill>
              <a:latin typeface="PT Sans" panose="020B0503020203020204" pitchFamily="34" charset="77"/>
            </a:endParaRPr>
          </a:p>
        </p:txBody>
      </p:sp>
    </p:spTree>
    <p:extLst>
      <p:ext uri="{BB962C8B-B14F-4D97-AF65-F5344CB8AC3E}">
        <p14:creationId xmlns:p14="http://schemas.microsoft.com/office/powerpoint/2010/main" val="2335927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9C98A-B0F1-FECD-C066-6FD65237B5C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8D192FBC-5722-69DD-4CE3-FFADBEDEB318}"/>
              </a:ext>
            </a:extLst>
          </p:cNvPr>
          <p:cNvSpPr txBox="1"/>
          <p:nvPr/>
        </p:nvSpPr>
        <p:spPr>
          <a:xfrm>
            <a:off x="717330" y="408344"/>
            <a:ext cx="10757338" cy="1354217"/>
          </a:xfrm>
          <a:prstGeom prst="rect">
            <a:avLst/>
          </a:prstGeom>
          <a:noFill/>
        </p:spPr>
        <p:txBody>
          <a:bodyPr wrap="square">
            <a:spAutoFit/>
          </a:bodyPr>
          <a:lstStyle/>
          <a:p>
            <a:br>
              <a:rPr lang="en-GB" noProof="0" dirty="0">
                <a:latin typeface="PT Sans" panose="020B0503020203020204" pitchFamily="34" charset="77"/>
              </a:rPr>
            </a:br>
            <a:r>
              <a:rPr lang="en-GB" sz="1600" noProof="0" dirty="0">
                <a:latin typeface="PT Sans" panose="020B0503020203020204" pitchFamily="34" charset="77"/>
              </a:rPr>
              <a:t>Depending on the external factors the work plan may change, but the Government's goal is to take into account the proposals of the public, stakeholders and those affected by this policy throughout the process of drafting the Draft Law. Therefore, we encourage you to be as involved as possible in all phases of the consultations to ensure a Law that is applicable in practice.</a:t>
            </a:r>
          </a:p>
        </p:txBody>
      </p:sp>
      <p:sp>
        <p:nvSpPr>
          <p:cNvPr id="19" name="Rectangle: Rounded Corners 10">
            <a:extLst>
              <a:ext uri="{FF2B5EF4-FFF2-40B4-BE49-F238E27FC236}">
                <a16:creationId xmlns:a16="http://schemas.microsoft.com/office/drawing/2014/main" id="{AD6B2299-36B1-361E-F8C3-927BFCC13BEF}"/>
              </a:ext>
            </a:extLst>
          </p:cNvPr>
          <p:cNvSpPr/>
          <p:nvPr/>
        </p:nvSpPr>
        <p:spPr>
          <a:xfrm>
            <a:off x="930512" y="43069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Development and finalization of the draft law</a:t>
            </a:r>
          </a:p>
        </p:txBody>
      </p:sp>
      <p:sp>
        <p:nvSpPr>
          <p:cNvPr id="20" name="Rectangle 19">
            <a:extLst>
              <a:ext uri="{FF2B5EF4-FFF2-40B4-BE49-F238E27FC236}">
                <a16:creationId xmlns:a16="http://schemas.microsoft.com/office/drawing/2014/main" id="{DC7CB41C-8758-64CF-9821-26E89B56CE8E}"/>
              </a:ext>
            </a:extLst>
          </p:cNvPr>
          <p:cNvSpPr/>
          <p:nvPr/>
        </p:nvSpPr>
        <p:spPr>
          <a:xfrm>
            <a:off x="700541" y="3429000"/>
            <a:ext cx="10404255" cy="1074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riangle 20">
            <a:extLst>
              <a:ext uri="{FF2B5EF4-FFF2-40B4-BE49-F238E27FC236}">
                <a16:creationId xmlns:a16="http://schemas.microsoft.com/office/drawing/2014/main" id="{89F4D668-0928-3E95-897E-F2C701BABB25}"/>
              </a:ext>
            </a:extLst>
          </p:cNvPr>
          <p:cNvSpPr/>
          <p:nvPr/>
        </p:nvSpPr>
        <p:spPr>
          <a:xfrm rot="5400000">
            <a:off x="11106015" y="3367718"/>
            <a:ext cx="227531" cy="229972"/>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755F88E-894C-06E4-2685-D2E0D9C5E39A}"/>
              </a:ext>
            </a:extLst>
          </p:cNvPr>
          <p:cNvSpPr/>
          <p:nvPr/>
        </p:nvSpPr>
        <p:spPr>
          <a:xfrm>
            <a:off x="9297270" y="2639536"/>
            <a:ext cx="1577553" cy="156966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noProof="0" dirty="0">
                <a:solidFill>
                  <a:schemeClr val="tx2"/>
                </a:solidFill>
                <a:latin typeface="PT Sans" panose="020B0503020203020204" pitchFamily="34" charset="77"/>
              </a:rPr>
              <a:t>Feb-Mar 2027</a:t>
            </a:r>
            <a:endParaRPr lang="en-GB" sz="700" b="1" noProof="0" dirty="0">
              <a:solidFill>
                <a:schemeClr val="tx2"/>
              </a:solidFill>
              <a:latin typeface="PT Sans" panose="020B0503020203020204" pitchFamily="34" charset="77"/>
            </a:endParaRPr>
          </a:p>
        </p:txBody>
      </p:sp>
      <p:sp>
        <p:nvSpPr>
          <p:cNvPr id="24" name="Oval 23">
            <a:extLst>
              <a:ext uri="{FF2B5EF4-FFF2-40B4-BE49-F238E27FC236}">
                <a16:creationId xmlns:a16="http://schemas.microsoft.com/office/drawing/2014/main" id="{61569820-6AF4-6FA7-7AF1-23CC695567FF}"/>
              </a:ext>
            </a:extLst>
          </p:cNvPr>
          <p:cNvSpPr/>
          <p:nvPr/>
        </p:nvSpPr>
        <p:spPr>
          <a:xfrm>
            <a:off x="680068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Aug-Sep 2026</a:t>
            </a:r>
            <a:endParaRPr lang="en-GB" sz="600" b="1" noProof="0" dirty="0">
              <a:solidFill>
                <a:schemeClr val="tx2"/>
              </a:solidFill>
              <a:latin typeface="PT Sans" panose="020B0503020203020204" pitchFamily="34" charset="77"/>
            </a:endParaRPr>
          </a:p>
        </p:txBody>
      </p:sp>
      <p:sp>
        <p:nvSpPr>
          <p:cNvPr id="3" name="Rectangle: Rounded Corners 10">
            <a:extLst>
              <a:ext uri="{FF2B5EF4-FFF2-40B4-BE49-F238E27FC236}">
                <a16:creationId xmlns:a16="http://schemas.microsoft.com/office/drawing/2014/main" id="{A78159A7-5FFC-7CA0-9777-4A97BA58ED1A}"/>
              </a:ext>
            </a:extLst>
          </p:cNvPr>
          <p:cNvSpPr/>
          <p:nvPr/>
        </p:nvSpPr>
        <p:spPr>
          <a:xfrm>
            <a:off x="3721522" y="43212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Approval by the Government</a:t>
            </a:r>
          </a:p>
        </p:txBody>
      </p:sp>
      <p:sp>
        <p:nvSpPr>
          <p:cNvPr id="4" name="Rectangle: Rounded Corners 10">
            <a:extLst>
              <a:ext uri="{FF2B5EF4-FFF2-40B4-BE49-F238E27FC236}">
                <a16:creationId xmlns:a16="http://schemas.microsoft.com/office/drawing/2014/main" id="{2FC33A88-9A8B-C042-AFDB-E476359894B3}"/>
              </a:ext>
            </a:extLst>
          </p:cNvPr>
          <p:cNvSpPr/>
          <p:nvPr/>
        </p:nvSpPr>
        <p:spPr>
          <a:xfrm>
            <a:off x="6512534" y="4321239"/>
            <a:ext cx="1577553" cy="1899999"/>
          </a:xfrm>
          <a:prstGeom prst="roundRect">
            <a:avLst/>
          </a:prstGeom>
          <a:solidFill>
            <a:srgbClr val="78AD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Approval by the Assembly</a:t>
            </a:r>
          </a:p>
        </p:txBody>
      </p:sp>
      <p:sp>
        <p:nvSpPr>
          <p:cNvPr id="5" name="Rectangle: Rounded Corners 10">
            <a:extLst>
              <a:ext uri="{FF2B5EF4-FFF2-40B4-BE49-F238E27FC236}">
                <a16:creationId xmlns:a16="http://schemas.microsoft.com/office/drawing/2014/main" id="{26D26E4C-B002-9DE5-86CC-10C40BD31F4A}"/>
              </a:ext>
            </a:extLst>
          </p:cNvPr>
          <p:cNvSpPr/>
          <p:nvPr/>
        </p:nvSpPr>
        <p:spPr>
          <a:xfrm>
            <a:off x="9303546" y="4321239"/>
            <a:ext cx="1577553" cy="1899999"/>
          </a:xfrm>
          <a:prstGeom prst="roundRect">
            <a:avLst/>
          </a:prstGeom>
          <a:solidFill>
            <a:srgbClr val="1E71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r>
              <a:rPr lang="en-US" sz="1400" dirty="0">
                <a:solidFill>
                  <a:schemeClr val="bg1"/>
                </a:solidFill>
                <a:latin typeface="PT Sans" panose="020B0503020203020204" pitchFamily="34" charset="77"/>
              </a:rPr>
              <a:t>Issuance of secondary legislation</a:t>
            </a:r>
          </a:p>
          <a:p>
            <a:pPr lvl="0">
              <a:defRPr/>
            </a:pPr>
            <a:r>
              <a:rPr lang="en-US" sz="1400" dirty="0">
                <a:solidFill>
                  <a:schemeClr val="bg1"/>
                </a:solidFill>
                <a:latin typeface="PT Sans" panose="020B0503020203020204" pitchFamily="34" charset="77"/>
              </a:rPr>
              <a:t>Including EPR secondary legislation</a:t>
            </a:r>
          </a:p>
        </p:txBody>
      </p:sp>
      <p:sp>
        <p:nvSpPr>
          <p:cNvPr id="6" name="Oval 5">
            <a:extLst>
              <a:ext uri="{FF2B5EF4-FFF2-40B4-BE49-F238E27FC236}">
                <a16:creationId xmlns:a16="http://schemas.microsoft.com/office/drawing/2014/main" id="{941984FE-936A-9D11-62AD-9439E67243A9}"/>
              </a:ext>
            </a:extLst>
          </p:cNvPr>
          <p:cNvSpPr/>
          <p:nvPr/>
        </p:nvSpPr>
        <p:spPr>
          <a:xfrm>
            <a:off x="400967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2"/>
                </a:solidFill>
                <a:latin typeface="PT Sans" panose="020B0503020203020204" pitchFamily="34" charset="77"/>
              </a:rPr>
              <a:t>Feb-Mar</a:t>
            </a:r>
            <a:br>
              <a:rPr lang="en-GB" sz="1600" b="1" noProof="0" dirty="0">
                <a:solidFill>
                  <a:schemeClr val="tx2"/>
                </a:solidFill>
                <a:latin typeface="PT Sans" panose="020B0503020203020204" pitchFamily="34" charset="77"/>
              </a:rPr>
            </a:br>
            <a:r>
              <a:rPr lang="en-GB" sz="1600" b="1" noProof="0" dirty="0">
                <a:solidFill>
                  <a:schemeClr val="tx2"/>
                </a:solidFill>
                <a:latin typeface="PT Sans" panose="020B0503020203020204" pitchFamily="34" charset="77"/>
              </a:rPr>
              <a:t>2026</a:t>
            </a:r>
            <a:endParaRPr lang="en-GB" sz="600" b="1" noProof="0" dirty="0">
              <a:solidFill>
                <a:schemeClr val="tx2"/>
              </a:solidFill>
              <a:latin typeface="PT Sans" panose="020B0503020203020204" pitchFamily="34" charset="77"/>
            </a:endParaRPr>
          </a:p>
        </p:txBody>
      </p:sp>
      <p:sp>
        <p:nvSpPr>
          <p:cNvPr id="7" name="Oval 6">
            <a:extLst>
              <a:ext uri="{FF2B5EF4-FFF2-40B4-BE49-F238E27FC236}">
                <a16:creationId xmlns:a16="http://schemas.microsoft.com/office/drawing/2014/main" id="{34F87431-158C-A2A4-CB78-26A455A4AAA4}"/>
              </a:ext>
            </a:extLst>
          </p:cNvPr>
          <p:cNvSpPr/>
          <p:nvPr/>
        </p:nvSpPr>
        <p:spPr>
          <a:xfrm>
            <a:off x="1218668" y="2978246"/>
            <a:ext cx="1001239" cy="100891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noProof="0" dirty="0">
                <a:solidFill>
                  <a:schemeClr val="tx2"/>
                </a:solidFill>
                <a:latin typeface="PT Sans" panose="020B0503020203020204" pitchFamily="34" charset="77"/>
              </a:rPr>
              <a:t>Nov-Dec </a:t>
            </a:r>
          </a:p>
          <a:p>
            <a:pPr algn="ctr"/>
            <a:r>
              <a:rPr lang="en-GB" sz="1600" b="1" noProof="0" dirty="0">
                <a:solidFill>
                  <a:schemeClr val="tx2"/>
                </a:solidFill>
                <a:latin typeface="PT Sans" panose="020B0503020203020204" pitchFamily="34" charset="77"/>
              </a:rPr>
              <a:t>2025</a:t>
            </a:r>
            <a:endParaRPr lang="en-GB" sz="600" b="1" noProof="0" dirty="0">
              <a:solidFill>
                <a:schemeClr val="tx2"/>
              </a:solidFill>
              <a:latin typeface="PT Sans" panose="020B0503020203020204" pitchFamily="34" charset="77"/>
            </a:endParaRPr>
          </a:p>
        </p:txBody>
      </p:sp>
    </p:spTree>
    <p:extLst>
      <p:ext uri="{BB962C8B-B14F-4D97-AF65-F5344CB8AC3E}">
        <p14:creationId xmlns:p14="http://schemas.microsoft.com/office/powerpoint/2010/main" val="27567895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E40B3-B7A9-6387-FDF5-123D899F47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040B1D-272D-8E6D-259B-1A736241F2C8}"/>
              </a:ext>
            </a:extLst>
          </p:cNvPr>
          <p:cNvSpPr/>
          <p:nvPr/>
        </p:nvSpPr>
        <p:spPr>
          <a:xfrm>
            <a:off x="0" y="-123324"/>
            <a:ext cx="12192000" cy="5835391"/>
          </a:xfrm>
          <a:prstGeom prst="rect">
            <a:avLst/>
          </a:prstGeom>
          <a:solidFill>
            <a:srgbClr val="AECF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EF96C706-8753-F214-A42A-B55111692B8B}"/>
              </a:ext>
            </a:extLst>
          </p:cNvPr>
          <p:cNvSpPr txBox="1"/>
          <p:nvPr/>
        </p:nvSpPr>
        <p:spPr>
          <a:xfrm>
            <a:off x="614920" y="1237683"/>
            <a:ext cx="7814081" cy="1323439"/>
          </a:xfrm>
          <a:prstGeom prst="rect">
            <a:avLst/>
          </a:prstGeom>
          <a:noFill/>
        </p:spPr>
        <p:txBody>
          <a:bodyPr wrap="square">
            <a:spAutoFit/>
          </a:bodyPr>
          <a:lstStyle/>
          <a:p>
            <a:r>
              <a:rPr lang="en-GB" sz="8000" b="1" noProof="0" dirty="0">
                <a:solidFill>
                  <a:schemeClr val="accent1">
                    <a:lumMod val="75000"/>
                  </a:schemeClr>
                </a:solidFill>
                <a:latin typeface="PT Sans" panose="020B0503020203020204" pitchFamily="34" charset="77"/>
              </a:rPr>
              <a:t>Contact Us </a:t>
            </a:r>
            <a:endParaRPr lang="en-GB" sz="6000" noProof="0" dirty="0">
              <a:solidFill>
                <a:schemeClr val="accent1">
                  <a:lumMod val="75000"/>
                </a:schemeClr>
              </a:solidFill>
              <a:latin typeface="PT Sans" panose="020B0503020203020204" pitchFamily="34" charset="77"/>
            </a:endParaRPr>
          </a:p>
        </p:txBody>
      </p:sp>
      <p:pic>
        <p:nvPicPr>
          <p:cNvPr id="15" name="Picture 14">
            <a:extLst>
              <a:ext uri="{FF2B5EF4-FFF2-40B4-BE49-F238E27FC236}">
                <a16:creationId xmlns:a16="http://schemas.microsoft.com/office/drawing/2014/main" id="{FC42C064-DB18-DD63-DE50-3DA73F360A25}"/>
              </a:ext>
            </a:extLst>
          </p:cNvPr>
          <p:cNvPicPr>
            <a:picLocks noChangeAspect="1"/>
          </p:cNvPicPr>
          <p:nvPr/>
        </p:nvPicPr>
        <p:blipFill>
          <a:blip r:embed="rId3"/>
          <a:srcRect t="14922" b="23433"/>
          <a:stretch>
            <a:fillRect/>
          </a:stretch>
        </p:blipFill>
        <p:spPr>
          <a:xfrm>
            <a:off x="7587429" y="5712067"/>
            <a:ext cx="2361602" cy="1056646"/>
          </a:xfrm>
          <a:prstGeom prst="rect">
            <a:avLst/>
          </a:prstGeom>
        </p:spPr>
      </p:pic>
      <p:pic>
        <p:nvPicPr>
          <p:cNvPr id="17" name="Picture 16">
            <a:extLst>
              <a:ext uri="{FF2B5EF4-FFF2-40B4-BE49-F238E27FC236}">
                <a16:creationId xmlns:a16="http://schemas.microsoft.com/office/drawing/2014/main" id="{62EA6919-FFEF-D395-911D-D4C7C16F454D}"/>
              </a:ext>
            </a:extLst>
          </p:cNvPr>
          <p:cNvPicPr>
            <a:picLocks noChangeAspect="1"/>
          </p:cNvPicPr>
          <p:nvPr/>
        </p:nvPicPr>
        <p:blipFill>
          <a:blip r:embed="rId4"/>
          <a:stretch>
            <a:fillRect/>
          </a:stretch>
        </p:blipFill>
        <p:spPr>
          <a:xfrm>
            <a:off x="382125" y="5866635"/>
            <a:ext cx="2158995" cy="787133"/>
          </a:xfrm>
          <a:prstGeom prst="rect">
            <a:avLst/>
          </a:prstGeom>
        </p:spPr>
      </p:pic>
      <p:pic>
        <p:nvPicPr>
          <p:cNvPr id="19" name="Picture 18">
            <a:extLst>
              <a:ext uri="{FF2B5EF4-FFF2-40B4-BE49-F238E27FC236}">
                <a16:creationId xmlns:a16="http://schemas.microsoft.com/office/drawing/2014/main" id="{AB69D6EF-E219-3E5B-BFF4-91BE29E29F85}"/>
              </a:ext>
            </a:extLst>
          </p:cNvPr>
          <p:cNvPicPr>
            <a:picLocks noChangeAspect="1"/>
          </p:cNvPicPr>
          <p:nvPr/>
        </p:nvPicPr>
        <p:blipFill>
          <a:blip r:embed="rId5"/>
          <a:stretch>
            <a:fillRect/>
          </a:stretch>
        </p:blipFill>
        <p:spPr>
          <a:xfrm>
            <a:off x="9949031" y="5804830"/>
            <a:ext cx="2185016" cy="910744"/>
          </a:xfrm>
          <a:prstGeom prst="rect">
            <a:avLst/>
          </a:prstGeom>
        </p:spPr>
      </p:pic>
      <p:sp>
        <p:nvSpPr>
          <p:cNvPr id="5" name="TextBox 4">
            <a:extLst>
              <a:ext uri="{FF2B5EF4-FFF2-40B4-BE49-F238E27FC236}">
                <a16:creationId xmlns:a16="http://schemas.microsoft.com/office/drawing/2014/main" id="{D7584C11-7AC1-07B7-1459-053AE74636D0}"/>
              </a:ext>
            </a:extLst>
          </p:cNvPr>
          <p:cNvSpPr txBox="1"/>
          <p:nvPr/>
        </p:nvSpPr>
        <p:spPr>
          <a:xfrm>
            <a:off x="4604572" y="5950305"/>
            <a:ext cx="2982857" cy="738664"/>
          </a:xfrm>
          <a:prstGeom prst="rect">
            <a:avLst/>
          </a:prstGeom>
          <a:noFill/>
        </p:spPr>
        <p:txBody>
          <a:bodyPr wrap="square">
            <a:spAutoFit/>
          </a:bodyPr>
          <a:lstStyle/>
          <a:p>
            <a:pPr algn="ctr" rtl="0">
              <a:buNone/>
            </a:pPr>
            <a:r>
              <a:rPr lang="en-IN" sz="600" b="0" i="0" u="none" strike="noStrike" dirty="0" err="1">
                <a:effectLst/>
                <a:latin typeface="Book Antiqua" panose="02040602050305030304" pitchFamily="18" charset="0"/>
              </a:rPr>
              <a:t>Republika</a:t>
            </a:r>
            <a:r>
              <a:rPr lang="en-IN" sz="600" b="0" i="0" u="none" strike="noStrike" dirty="0">
                <a:effectLst/>
                <a:latin typeface="Book Antiqua" panose="02040602050305030304" pitchFamily="18" charset="0"/>
              </a:rPr>
              <a:t> e </a:t>
            </a:r>
            <a:r>
              <a:rPr lang="en-IN" sz="600" b="0" i="0" u="none" strike="noStrike" dirty="0" err="1">
                <a:effectLst/>
                <a:latin typeface="Book Antiqua" panose="02040602050305030304" pitchFamily="18" charset="0"/>
              </a:rPr>
              <a:t>Kosovës</a:t>
            </a:r>
            <a:endParaRPr lang="en-IN" sz="600" b="0" dirty="0">
              <a:effectLst/>
            </a:endParaRPr>
          </a:p>
          <a:p>
            <a:pPr algn="ctr" rtl="0">
              <a:buNone/>
            </a:pPr>
            <a:r>
              <a:rPr lang="en-IN" sz="600" b="0" i="0" u="none" strike="noStrike" dirty="0" err="1">
                <a:effectLst/>
                <a:latin typeface="Book Antiqua" panose="02040602050305030304" pitchFamily="18" charset="0"/>
              </a:rPr>
              <a:t>Republika</a:t>
            </a:r>
            <a:r>
              <a:rPr lang="en-IN" sz="600" b="0" i="0" u="none" strike="noStrike" dirty="0">
                <a:effectLst/>
                <a:latin typeface="Book Antiqua" panose="02040602050305030304" pitchFamily="18" charset="0"/>
              </a:rPr>
              <a:t> Kosova - Republic of Kosovo</a:t>
            </a:r>
            <a:endParaRPr lang="en-IN" sz="600" b="0" dirty="0">
              <a:effectLst/>
            </a:endParaRPr>
          </a:p>
          <a:p>
            <a:pPr algn="ctr" rtl="0">
              <a:buNone/>
            </a:pPr>
            <a:r>
              <a:rPr lang="en-IN" sz="600" b="0" i="0" u="none" strike="noStrike" dirty="0" err="1">
                <a:effectLst/>
                <a:latin typeface="Book Antiqua" panose="02040602050305030304" pitchFamily="18" charset="0"/>
              </a:rPr>
              <a:t>Qeveria</a:t>
            </a:r>
            <a:r>
              <a:rPr lang="en-IN" sz="600" b="0" i="0" u="none" strike="noStrike" dirty="0">
                <a:effectLst/>
                <a:latin typeface="Book Antiqua" panose="02040602050305030304" pitchFamily="18" charset="0"/>
              </a:rPr>
              <a:t> - Vlada - Government </a:t>
            </a:r>
            <a:endParaRPr lang="en-IN" sz="600" b="0" dirty="0">
              <a:effectLst/>
            </a:endParaRPr>
          </a:p>
          <a:p>
            <a:pPr>
              <a:buNone/>
            </a:pPr>
            <a:endParaRPr lang="en-IN" sz="600" b="0" dirty="0">
              <a:effectLst/>
            </a:endParaRPr>
          </a:p>
          <a:p>
            <a:pPr algn="ctr" rtl="0">
              <a:buNone/>
            </a:pPr>
            <a:r>
              <a:rPr lang="en-IN" sz="600" b="0" i="0" u="none" strike="noStrike" dirty="0" err="1">
                <a:effectLst/>
                <a:latin typeface="Book Antiqua" panose="02040602050305030304" pitchFamily="18" charset="0"/>
              </a:rPr>
              <a:t>Ministria</a:t>
            </a:r>
            <a:r>
              <a:rPr lang="en-IN" sz="600" b="0" i="0" u="none" strike="noStrike" dirty="0">
                <a:effectLst/>
                <a:latin typeface="Book Antiqua" panose="02040602050305030304" pitchFamily="18" charset="0"/>
              </a:rPr>
              <a:t> e </a:t>
            </a:r>
            <a:r>
              <a:rPr lang="en-IN" sz="600" b="0" i="0" u="none" strike="noStrike" dirty="0" err="1">
                <a:effectLst/>
                <a:latin typeface="Book Antiqua" panose="02040602050305030304" pitchFamily="18" charset="0"/>
              </a:rPr>
              <a:t>Mjedisit</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Planifikimit</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Hapësinor</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dhe</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Infrastrukturës</a:t>
            </a:r>
            <a:endParaRPr lang="en-IN" sz="600" b="0" dirty="0">
              <a:effectLst/>
            </a:endParaRPr>
          </a:p>
          <a:p>
            <a:pPr algn="ctr" rtl="0">
              <a:buNone/>
            </a:pPr>
            <a:r>
              <a:rPr lang="en-IN" sz="600" b="0" i="0" u="none" strike="noStrike" dirty="0" err="1">
                <a:effectLst/>
                <a:latin typeface="Book Antiqua" panose="02040602050305030304" pitchFamily="18" charset="0"/>
              </a:rPr>
              <a:t>Ministarstvo</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Zivotne</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Sredine</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Prostornog</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planiranja</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i</a:t>
            </a:r>
            <a:r>
              <a:rPr lang="en-IN" sz="600" b="0" i="0" u="none" strike="noStrike" dirty="0">
                <a:effectLst/>
                <a:latin typeface="Book Antiqua" panose="02040602050305030304" pitchFamily="18" charset="0"/>
              </a:rPr>
              <a:t> </a:t>
            </a:r>
            <a:r>
              <a:rPr lang="en-IN" sz="600" b="0" i="0" u="none" strike="noStrike" dirty="0" err="1">
                <a:effectLst/>
                <a:latin typeface="Book Antiqua" panose="02040602050305030304" pitchFamily="18" charset="0"/>
              </a:rPr>
              <a:t>Infrastrukture</a:t>
            </a:r>
            <a:endParaRPr lang="en-IN" sz="600" b="0" dirty="0">
              <a:effectLst/>
            </a:endParaRPr>
          </a:p>
          <a:p>
            <a:pPr algn="ctr" rtl="0">
              <a:buNone/>
            </a:pPr>
            <a:r>
              <a:rPr lang="en-IN" sz="600" b="0" i="0" u="none" strike="noStrike" dirty="0">
                <a:effectLst/>
                <a:latin typeface="Book Antiqua" panose="02040602050305030304" pitchFamily="18" charset="0"/>
              </a:rPr>
              <a:t>Ministry of  Environment, Spatial Planning and Infrastructure</a:t>
            </a:r>
            <a:endParaRPr lang="en-US" sz="600" dirty="0"/>
          </a:p>
        </p:txBody>
      </p:sp>
      <p:pic>
        <p:nvPicPr>
          <p:cNvPr id="1028" name="Picture 4">
            <a:extLst>
              <a:ext uri="{FF2B5EF4-FFF2-40B4-BE49-F238E27FC236}">
                <a16:creationId xmlns:a16="http://schemas.microsoft.com/office/drawing/2014/main" id="{2399BC9A-6201-BF4A-7880-6CA34564E6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7922" y="5864267"/>
            <a:ext cx="788078" cy="87317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7519D67-3CBF-6979-37E1-B94747975C7E}"/>
              </a:ext>
            </a:extLst>
          </p:cNvPr>
          <p:cNvPicPr>
            <a:picLocks noChangeAspect="1"/>
          </p:cNvPicPr>
          <p:nvPr/>
        </p:nvPicPr>
        <p:blipFill>
          <a:blip r:embed="rId7"/>
          <a:srcRect l="19284" t="12741" r="19171" b="9353"/>
          <a:stretch>
            <a:fillRect/>
          </a:stretch>
        </p:blipFill>
        <p:spPr>
          <a:xfrm>
            <a:off x="7603545" y="360253"/>
            <a:ext cx="4617544" cy="4899839"/>
          </a:xfrm>
          <a:prstGeom prst="rect">
            <a:avLst/>
          </a:prstGeom>
        </p:spPr>
      </p:pic>
      <p:sp>
        <p:nvSpPr>
          <p:cNvPr id="12" name="TextBox 11">
            <a:extLst>
              <a:ext uri="{FF2B5EF4-FFF2-40B4-BE49-F238E27FC236}">
                <a16:creationId xmlns:a16="http://schemas.microsoft.com/office/drawing/2014/main" id="{4CC4E261-0199-5099-5149-8B3AAEEF5E86}"/>
              </a:ext>
            </a:extLst>
          </p:cNvPr>
          <p:cNvSpPr txBox="1"/>
          <p:nvPr/>
        </p:nvSpPr>
        <p:spPr>
          <a:xfrm>
            <a:off x="764945" y="3238458"/>
            <a:ext cx="8302109" cy="1569660"/>
          </a:xfrm>
          <a:prstGeom prst="rect">
            <a:avLst/>
          </a:prstGeom>
          <a:noFill/>
        </p:spPr>
        <p:txBody>
          <a:bodyPr wrap="square">
            <a:spAutoFit/>
          </a:bodyPr>
          <a:lstStyle/>
          <a:p>
            <a:r>
              <a:rPr lang="en-GB" sz="2400" b="1" noProof="0" dirty="0">
                <a:solidFill>
                  <a:schemeClr val="bg1"/>
                </a:solidFill>
                <a:latin typeface="PT Sans" panose="020B0503020203020204" pitchFamily="34" charset="77"/>
              </a:rPr>
              <a:t>Agim </a:t>
            </a:r>
            <a:r>
              <a:rPr lang="en-GB" sz="2400" b="1" noProof="0" dirty="0" err="1">
                <a:solidFill>
                  <a:schemeClr val="bg1"/>
                </a:solidFill>
                <a:latin typeface="PT Sans" panose="020B0503020203020204" pitchFamily="34" charset="77"/>
              </a:rPr>
              <a:t>Mazreku</a:t>
            </a:r>
            <a:br>
              <a:rPr lang="en-GB" sz="2400" noProof="0" dirty="0">
                <a:solidFill>
                  <a:schemeClr val="bg1"/>
                </a:solidFill>
                <a:latin typeface="PT Sans" panose="020B0503020203020204" pitchFamily="34" charset="77"/>
              </a:rPr>
            </a:br>
            <a:r>
              <a:rPr lang="en-GB" sz="2400" noProof="0" dirty="0">
                <a:solidFill>
                  <a:schemeClr val="bg1"/>
                </a:solidFill>
                <a:latin typeface="PT Sans" panose="020B0503020203020204" pitchFamily="34" charset="77"/>
              </a:rPr>
              <a:t>Advisor on Climate, Environment and Energy</a:t>
            </a:r>
          </a:p>
          <a:p>
            <a:r>
              <a:rPr lang="en-GB" sz="2400" dirty="0">
                <a:solidFill>
                  <a:schemeClr val="bg1"/>
                </a:solidFill>
                <a:latin typeface="PT Sans" panose="020B0503020203020204" pitchFamily="34" charset="77"/>
              </a:rPr>
              <a:t>Ministry of Environment, Spatial Planning and Infrastructure</a:t>
            </a:r>
          </a:p>
          <a:p>
            <a:r>
              <a:rPr lang="en-IN" sz="2400" dirty="0" err="1">
                <a:solidFill>
                  <a:schemeClr val="bg1"/>
                </a:solidFill>
              </a:rPr>
              <a:t>agim.mazreku@rks-gov.net</a:t>
            </a:r>
            <a:endParaRPr lang="en-IN" sz="2400" dirty="0">
              <a:solidFill>
                <a:schemeClr val="bg1"/>
              </a:solidFill>
            </a:endParaRPr>
          </a:p>
        </p:txBody>
      </p:sp>
    </p:spTree>
    <p:extLst>
      <p:ext uri="{BB962C8B-B14F-4D97-AF65-F5344CB8AC3E}">
        <p14:creationId xmlns:p14="http://schemas.microsoft.com/office/powerpoint/2010/main" val="15822164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1178</TotalTime>
  <Words>1658</Words>
  <Application>Microsoft Macintosh PowerPoint</Application>
  <PresentationFormat>Widescreen</PresentationFormat>
  <Paragraphs>221</Paragraphs>
  <Slides>27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Book Antiqua</vt:lpstr>
      <vt:lpstr>Calibri</vt:lpstr>
      <vt:lpstr>Calibri Light</vt:lpstr>
      <vt:lpstr>Century Gothic</vt:lpstr>
      <vt:lpstr>PT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Gayathri Rajesh</dc:creator>
  <cp:lastModifiedBy>Gayathri Rajesh</cp:lastModifiedBy>
  <cp:revision>8</cp:revision>
  <dcterms:created xsi:type="dcterms:W3CDTF">2025-10-29T11:59:10Z</dcterms:created>
  <dcterms:modified xsi:type="dcterms:W3CDTF">2025-10-30T10:30:20Z</dcterms:modified>
</cp:coreProperties>
</file>